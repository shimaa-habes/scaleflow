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e08462c1174936" /><Relationship Type="http://schemas.openxmlformats.org/officeDocument/2006/relationships/extended-properties" Target="/docProps/app.xml" Id="R6c8865b9a6b2433a" /><Relationship Type="http://schemas.openxmlformats.org/officeDocument/2006/relationships/officeDocument" Target="/ppt/presentation.xml" Id="Rba7751ea1fb84c3b" /></Relationships>
</file>

<file path=ppt/presentation.xml><?xml version="1.0" encoding="utf-8"?>
<p:presentation xmlns:p="http://schemas.openxmlformats.org/presentationml/2006/main">
  <p:sldMasterIdLst>
    <p:sldMasterId xmlns:r="http://schemas.openxmlformats.org/officeDocument/2006/relationships" id="2147483648" r:id="R9370c8f6e8ed46f3"/>
  </p:sldMasterIdLst>
  <p:notesMasterIdLst>
    <p:notesMasterId xmlns:r="http://schemas.openxmlformats.org/officeDocument/2006/relationships" r:id="R316f1136c8774fb2"/>
  </p:notesMasterIdLst>
  <p:sldIdLst>
    <p:sldId xmlns:r="http://schemas.openxmlformats.org/officeDocument/2006/relationships" id="256" r:id="R874e6db7ee38461f"/>
    <p:sldId xmlns:r="http://schemas.openxmlformats.org/officeDocument/2006/relationships" id="257" r:id="R22cbb5745bac48cc"/>
    <p:sldId xmlns:r="http://schemas.openxmlformats.org/officeDocument/2006/relationships" id="258" r:id="R263ecd4e1bef40dc"/>
    <p:sldId xmlns:r="http://schemas.openxmlformats.org/officeDocument/2006/relationships" id="259" r:id="R8cdad1a291c049be"/>
    <p:sldId xmlns:r="http://schemas.openxmlformats.org/officeDocument/2006/relationships" id="260" r:id="R46d7dfe6e90543aa"/>
    <p:sldId xmlns:r="http://schemas.openxmlformats.org/officeDocument/2006/relationships" id="261" r:id="R96886a5072ae4866"/>
    <p:sldId xmlns:r="http://schemas.openxmlformats.org/officeDocument/2006/relationships" id="262" r:id="Rf125cb55023a4426"/>
    <p:sldId xmlns:r="http://schemas.openxmlformats.org/officeDocument/2006/relationships" id="263" r:id="R25b3800b538b40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9d875ed8f24887" /><Relationship Type="http://schemas.openxmlformats.org/officeDocument/2006/relationships/slideMaster" Target="/ppt/slideMasters/slideMaster1.xml" Id="R9370c8f6e8ed46f3" /><Relationship Type="http://schemas.openxmlformats.org/officeDocument/2006/relationships/notesMaster" Target="/ppt/notesMasters/notesMaster1.xml" Id="R316f1136c8774fb2" /><Relationship Type="http://schemas.openxmlformats.org/officeDocument/2006/relationships/presProps" Target="/ppt/presProps.xml" Id="R90b645a199db48a7" /><Relationship Type="http://schemas.openxmlformats.org/officeDocument/2006/relationships/tableStyles" Target="/ppt/tableStyles.xml" Id="R0dac59ad32b649c2" /><Relationship Type="http://schemas.openxmlformats.org/officeDocument/2006/relationships/slide" Target="/ppt/slides/slide1.xml" Id="R874e6db7ee38461f" /><Relationship Type="http://schemas.openxmlformats.org/officeDocument/2006/relationships/slide" Target="/ppt/slides/slide2.xml" Id="R22cbb5745bac48cc" /><Relationship Type="http://schemas.openxmlformats.org/officeDocument/2006/relationships/slide" Target="/ppt/slides/slide3.xml" Id="R263ecd4e1bef40dc" /><Relationship Type="http://schemas.openxmlformats.org/officeDocument/2006/relationships/slide" Target="/ppt/slides/slide4.xml" Id="R8cdad1a291c049be" /><Relationship Type="http://schemas.openxmlformats.org/officeDocument/2006/relationships/slide" Target="/ppt/slides/slide5.xml" Id="R46d7dfe6e90543aa" /><Relationship Type="http://schemas.openxmlformats.org/officeDocument/2006/relationships/slide" Target="/ppt/slides/slide6.xml" Id="R96886a5072ae4866" /><Relationship Type="http://schemas.openxmlformats.org/officeDocument/2006/relationships/slide" Target="/ppt/slides/slide7.xml" Id="Rf125cb55023a4426" /><Relationship Type="http://schemas.openxmlformats.org/officeDocument/2006/relationships/slide" Target="/ppt/slides/slide8.xml" Id="R25b3800b538b40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d12437ed5f46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588a5678a44121" /><Relationship Type="http://schemas.openxmlformats.org/officeDocument/2006/relationships/notesMaster" Target="/ppt/notesMasters/notesMaster1.xml" Id="R801e93a912584d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e29f43e9904dbb" /><Relationship Type="http://schemas.openxmlformats.org/officeDocument/2006/relationships/notesMaster" Target="/ppt/notesMasters/notesMaster1.xml" Id="R2b302305307445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cda0ff3eb246e7" /><Relationship Type="http://schemas.openxmlformats.org/officeDocument/2006/relationships/notesMaster" Target="/ppt/notesMasters/notesMaster1.xml" Id="Rbc55073df0374a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7977a001454c54" /><Relationship Type="http://schemas.openxmlformats.org/officeDocument/2006/relationships/notesMaster" Target="/ppt/notesMasters/notesMaster1.xml" Id="R782034ea1b1647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88301d5c354a94" /><Relationship Type="http://schemas.openxmlformats.org/officeDocument/2006/relationships/notesMaster" Target="/ppt/notesMasters/notesMaster1.xml" Id="R810b795d43744e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e636fb39d04570" /><Relationship Type="http://schemas.openxmlformats.org/officeDocument/2006/relationships/notesMaster" Target="/ppt/notesMasters/notesMaster1.xml" Id="R58ce6fde8dd04f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53eb42f1fd48cf" /><Relationship Type="http://schemas.openxmlformats.org/officeDocument/2006/relationships/notesMaster" Target="/ppt/notesMasters/notesMaster1.xml" Id="Reea39b4747244c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5938e4a0914f30" /><Relationship Type="http://schemas.openxmlformats.org/officeDocument/2006/relationships/notesMaster" Target="/ppt/notesMasters/notesMaster1.xml" Id="R24a6ccb6aabc46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Mohammad, and I worked as a backend developer on ScaleFlow using ASP.NET Core Web API. My contribution covered the backend foundation, core project and task APIs, task dependencies, project progress and team management, and the integration boundary for a future ML service.</a:t>
            </a:r>
          </a:p>
          <a:p xmlns:a="http://schemas.openxmlformats.org/drawingml/2006/main">
            <a:r>
              <a:t/>
            </a:r>
          </a:p>
          <a:p xmlns:a="http://schemas.openxmlformats.org/drawingml/2006/main">
            <a:r>
              <a:t>Sources checked: Program.cs; Controllers; Services; ScaleFlow.Tests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progressed in five stages. I first organized the backend and data model. Then I built the project and task APIs. After that, I added safe dependency management, project progress, and team operations. Finally, I prepared a clean interface for the future ML service. The current EF model contains thirty-one tables, fifty-one foreign keys, and five database check constraints.</a:t>
            </a:r>
          </a:p>
          <a:p xmlns:a="http://schemas.openxmlformats.org/drawingml/2006/main">
            <a:r>
              <a:t/>
            </a:r>
          </a:p>
          <a:p xmlns:a="http://schemas.openxmlformats.org/drawingml/2006/main">
            <a:r>
              <a:t>Sources checked: ScaleFlow.csproj; Program.cs; ScaleFlowDbContext.cs; current EF model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separated the API into controllers, interfaces, services, DTOs, validators, and EF Core persistence. Each request crosses a clear boundary instead of exposing database models directly. Data access uses the organization and project membership to limit visibility. Authentication uses ASP.NET Core Identity with JWT tokens and standard roles.</a:t>
            </a:r>
          </a:p>
          <a:p xmlns:a="http://schemas.openxmlformats.org/drawingml/2006/main">
            <a:r>
              <a:t/>
            </a:r>
          </a:p>
          <a:p xmlns:a="http://schemas.openxmlformats.org/drawingml/2006/main">
            <a:r>
              <a:t>Sources checked: Program.cs; Services; DTOs; Validation; Models; ScaleFlowDbContext.cs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core APIs, I implemented project and task CRUD with request and response DTOs. Project deletion and task deletion are soft deletes, so the records keep their audit history. Task updates also record status changes. FluentValidation checks request data, while one ApiResponse format and exception middleware keep success and error responses consistent.</a:t>
            </a:r>
          </a:p>
          <a:p xmlns:a="http://schemas.openxmlformats.org/drawingml/2006/main">
            <a:r>
              <a:t/>
            </a:r>
          </a:p>
          <a:p xmlns:a="http://schemas.openxmlformats.org/drawingml/2006/main">
            <a:r>
              <a:t>Sources checked: ProjectsController.cs; TasksController.cs; ProjectManagementService.cs; TaskService.cs; ManagementValidators.cs; ApiResponse.cs; ApiExceptionMiddleware.cs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dependency API can list, read, add, update, and remove task dependencies. Before saving, the service rejects a task that depends on itself, duplicate relationships, and tasks outside the same project. It builds the existing dependency graph and follows prerequisites to detect direct or indirect cycles. Relational writes use a serializable transaction to keep the check and save together.</a:t>
            </a:r>
          </a:p>
          <a:p xmlns:a="http://schemas.openxmlformats.org/drawingml/2006/main">
            <a:r>
              <a:t/>
            </a:r>
          </a:p>
          <a:p xmlns:a="http://schemas.openxmlformats.org/drawingml/2006/main">
            <a:r>
              <a:t>Sources checked: TasksController.cs; TaskService.cs; TaskDependencyDtos.cs; ManagementApiTests.cs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progress is calculated live from task data. Completed tasks count as one hundred percent, and cancelled tasks do not affect the average. For project members and teams, read access follows project visibility, but management actions require the project owner. A team member must already have project access. If a member becomes blocked or removed, the service also clears team membership and leadership links.</a:t>
            </a:r>
          </a:p>
          <a:p xmlns:a="http://schemas.openxmlformats.org/drawingml/2006/main">
            <a:r>
              <a:t/>
            </a:r>
          </a:p>
          <a:p xmlns:a="http://schemas.openxmlformats.org/drawingml/2006/main">
            <a:r>
              <a:t>Sources checked: ProjectProgressController.cs; ProjectProgressService.cs; ProjectMembersController.cs; ProjectMemberService.cs; TeamsController.cs; TeamService.cs; ProjectProgressTeamApiTests.cs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prepared four AI endpoints for delay prediction, risk analysis, bottleneck detection, and project health. The backend first checks project access, then creates an input DTO containing only that project's tasks and dependencies. It calls an IMlService interface, so a real adapter can be added later. Today, the default adapter returns HTTP 503 because the external ML service is not connected.</a:t>
            </a:r>
          </a:p>
          <a:p xmlns:a="http://schemas.openxmlformats.org/drawingml/2006/main">
            <a:r>
              <a:t/>
            </a:r>
          </a:p>
          <a:p xmlns:a="http://schemas.openxmlformats.org/drawingml/2006/main">
            <a:r>
              <a:t>Sources checked: ProjectAiController.cs; ProjectAiService.cs; IMlService.cs; UnavailableMlService.cs; AI DTOs; ProjectAiApiTests.cs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summary, I delivered a structured backend with clear DTO boundaries, core management APIs, safe dependency rules, live progress, and team operations. The test suite currently passes all sixty-three tests. The AI integration boundary is ready, but the real ML adapter and Flutter connection remain future integration work. For a demo, I would show one dependency rule, one progress response, and the intentional AI 503 response.</a:t>
            </a:r>
          </a:p>
          <a:p xmlns:a="http://schemas.openxmlformats.org/drawingml/2006/main">
            <a:r>
              <a:t/>
            </a:r>
          </a:p>
          <a:p xmlns:a="http://schemas.openxmlformats.org/drawingml/2006/main">
            <a:r>
              <a:t>Sources checked: Full repository review; dotnet test result: 63 passed, 0 failed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5e3659e8b9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92ad7a0de34030" /><Relationship Type="http://schemas.openxmlformats.org/officeDocument/2006/relationships/slideLayout" Target="/ppt/slideLayouts/slideLayout1.xml" Id="R066d5c526a934e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6d5c526a934e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cbfdf4699b5480f" /><Relationship Type="http://schemas.openxmlformats.org/officeDocument/2006/relationships/notesSlide" Target="/ppt/notesSlides/notesSlide1.xml" Id="Rb6f7a8763f514d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bd3a63e417489e" /><Relationship Type="http://schemas.openxmlformats.org/officeDocument/2006/relationships/notesSlide" Target="/ppt/notesSlides/notesSlide2.xml" Id="R1eccda4989be4f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858bf8ff064dc6" /><Relationship Type="http://schemas.openxmlformats.org/officeDocument/2006/relationships/image" Target="/ppt/media/image.png" Id="R6da6d1829a4548d3" /><Relationship Type="http://schemas.openxmlformats.org/officeDocument/2006/relationships/notesSlide" Target="/ppt/notesSlides/notesSlide3.xml" Id="Re46f027e70e644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b4d782bc6046b6" /><Relationship Type="http://schemas.openxmlformats.org/officeDocument/2006/relationships/notesSlide" Target="/ppt/notesSlides/notesSlide4.xml" Id="R48691b33263945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c8985ce7a9479b" /><Relationship Type="http://schemas.openxmlformats.org/officeDocument/2006/relationships/notesSlide" Target="/ppt/notesSlides/notesSlide5.xml" Id="R64eaa8cd46834a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6c2c0fa0084b11" /><Relationship Type="http://schemas.openxmlformats.org/officeDocument/2006/relationships/notesSlide" Target="/ppt/notesSlides/notesSlide6.xml" Id="R48660ef0562641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af109130984933" /><Relationship Type="http://schemas.openxmlformats.org/officeDocument/2006/relationships/notesSlide" Target="/ppt/notesSlides/notesSlide7.xml" Id="R969a67c23e4f4d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34a6e0b1c94a72" /><Relationship Type="http://schemas.openxmlformats.org/officeDocument/2006/relationships/notesSlide" Target="/ppt/notesSlides/notesSlide8.xml" Id="Rc591c9768cd6410a" /></Relationships>
</file>

<file path=ppt/slides/slide1.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06DC49-6375-4494-B5B0-6AC5C0BA44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E3A432-BD1A-4AFB-BA84-825288A02DB0}"/>
              </a:ext>
            </a:extLst>
          </p:cNvPr>
          <p:cNvSpPr>
            <a:spLocks xmlns:a="http://schemas.openxmlformats.org/drawingml/2006/main" noGrp="1"/>
          </p:cNvSpPr>
          <p:nvPr/>
        </p:nvSpPr>
        <p:spPr>
          <a:xfrm xmlns:a="http://schemas.openxmlformats.org/drawingml/2006/main">
            <a:off x="685800" y="5905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9C5F6"/>
                </a:solidFill>
                <a:latin typeface="Arial"/>
                <a:ea typeface="Arial"/>
                <a:cs typeface="Arial"/>
              </a:defRPr>
            </a:pPr>
            <a:r>
              <a:rPr sz="1350" b="1">
                <a:solidFill>
                  <a:srgbClr val="29C5F6"/>
                </a:solidFill>
                <a:latin typeface="Arial"/>
                <a:ea typeface="Arial"/>
                <a:cs typeface="Arial"/>
              </a:rPr>
              <a:t>SCALEFLOW</a:t>
            </a:r>
          </a:p>
        </p:txBody>
      </p:sp>
      <p:sp>
        <p:nvSpPr>
          <p:cNvPr id="3" name="">
            <a:extLst xmlns:a="http://schemas.openxmlformats.org/drawingml/2006/main">
              <a:ext uri="{FF2B5EF4-FFF2-40B4-BE49-F238E27FC236}">
                <a16:creationId xmlns:a16="http://schemas.microsoft.com/office/drawing/2014/main" id="{34421FAC-8D3E-47E0-9012-03AEEFBE173E}"/>
              </a:ext>
            </a:extLst>
          </p:cNvPr>
          <p:cNvSpPr>
            <a:spLocks xmlns:a="http://schemas.openxmlformats.org/drawingml/2006/main" noGrp="1"/>
          </p:cNvSpPr>
          <p:nvPr/>
        </p:nvSpPr>
        <p:spPr>
          <a:xfrm xmlns:a="http://schemas.openxmlformats.org/drawingml/2006/main">
            <a:off x="685800" y="1466850"/>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8FAFC"/>
                </a:solidFill>
                <a:latin typeface="Arial"/>
                <a:ea typeface="Arial"/>
                <a:cs typeface="Arial"/>
              </a:defRPr>
            </a:pPr>
            <a:r>
              <a:rPr sz="4050" b="1">
                <a:solidFill>
                  <a:srgbClr val="F8FAFC"/>
                </a:solidFill>
                <a:latin typeface="Arial"/>
                <a:ea typeface="Arial"/>
                <a:cs typeface="Arial"/>
              </a:rPr>
              <a:t>My Backend</a:t>
            </a:r>
          </a:p>
          <a:p xmlns:a="http://schemas.openxmlformats.org/drawingml/2006/main">
            <a:pPr algn="l">
              <a:defRPr sz="4050" b="1">
                <a:solidFill>
                  <a:srgbClr val="F8FAFC"/>
                </a:solidFill>
                <a:latin typeface="Arial"/>
                <a:ea typeface="Arial"/>
                <a:cs typeface="Arial"/>
              </a:defRPr>
            </a:pPr>
            <a:r>
              <a:rPr sz="4050" b="1">
                <a:solidFill>
                  <a:srgbClr val="F8FAFC"/>
                </a:solidFill>
                <a:latin typeface="Arial"/>
                <a:ea typeface="Arial"/>
                <a:cs typeface="Arial"/>
              </a:rPr>
              <a:t>Contribution</a:t>
            </a:r>
          </a:p>
        </p:txBody>
      </p:sp>
      <p:sp>
        <p:nvSpPr>
          <p:cNvPr id="4" name="">
            <a:extLst xmlns:a="http://schemas.openxmlformats.org/drawingml/2006/main">
              <a:ext uri="{FF2B5EF4-FFF2-40B4-BE49-F238E27FC236}">
                <a16:creationId xmlns:a16="http://schemas.microsoft.com/office/drawing/2014/main" id="{2D84715B-BF68-4183-AA31-88DF1AFD1906}"/>
              </a:ext>
            </a:extLst>
          </p:cNvPr>
          <p:cNvSpPr>
            <a:spLocks xmlns:a="http://schemas.openxmlformats.org/drawingml/2006/main" noGrp="1"/>
          </p:cNvSpPr>
          <p:nvPr/>
        </p:nvSpPr>
        <p:spPr>
          <a:xfrm xmlns:a="http://schemas.openxmlformats.org/drawingml/2006/main">
            <a:off x="723900" y="31432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AFC1D6"/>
                </a:solidFill>
                <a:latin typeface="Arial"/>
                <a:ea typeface="Arial"/>
                <a:cs typeface="Arial"/>
              </a:defRPr>
            </a:pPr>
            <a:r>
              <a:rPr sz="1950" b="0">
                <a:solidFill>
                  <a:srgbClr val="AFC1D6"/>
                </a:solidFill>
                <a:latin typeface="Arial"/>
                <a:ea typeface="Arial"/>
                <a:cs typeface="Arial"/>
              </a:rPr>
              <a:t>ASP.NET Core Web API</a:t>
            </a:r>
          </a:p>
        </p:txBody>
      </p:sp>
      <p:sp>
        <p:nvSpPr>
          <p:cNvPr id="5" name="">
            <a:extLst xmlns:a="http://schemas.openxmlformats.org/drawingml/2006/main">
              <a:ext uri="{FF2B5EF4-FFF2-40B4-BE49-F238E27FC236}">
                <a16:creationId xmlns:a16="http://schemas.microsoft.com/office/drawing/2014/main" id="{73A9F646-C9D6-406B-80BD-402A8E00233F}"/>
              </a:ext>
            </a:extLst>
          </p:cNvPr>
          <p:cNvSpPr>
            <a:spLocks xmlns:a="http://schemas.openxmlformats.org/drawingml/2006/main" noGrp="1"/>
          </p:cNvSpPr>
          <p:nvPr/>
        </p:nvSpPr>
        <p:spPr>
          <a:xfrm xmlns:a="http://schemas.openxmlformats.org/drawingml/2006/main">
            <a:off x="723900" y="3924300"/>
            <a:ext cx="4953000" cy="19050"/>
          </a:xfrm>
          <a:prstGeom xmlns:a="http://schemas.openxmlformats.org/drawingml/2006/main" prst="rect">
            <a:avLst/>
          </a:prstGeom>
          <a:solidFill xmlns:a="http://schemas.openxmlformats.org/drawingml/2006/main">
            <a:srgbClr val="4DD4A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C7572A-39E2-4356-9BE1-1240FA111A54}"/>
              </a:ext>
            </a:extLst>
          </p:cNvPr>
          <p:cNvSpPr>
            <a:spLocks xmlns:a="http://schemas.openxmlformats.org/drawingml/2006/main" noGrp="1"/>
          </p:cNvSpPr>
          <p:nvPr/>
        </p:nvSpPr>
        <p:spPr>
          <a:xfrm xmlns:a="http://schemas.openxmlformats.org/drawingml/2006/main">
            <a:off x="723900" y="4171950"/>
            <a:ext cx="647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F8FAFC"/>
                </a:solidFill>
                <a:latin typeface="Arial"/>
                <a:ea typeface="Arial"/>
                <a:cs typeface="Arial"/>
              </a:defRPr>
            </a:pPr>
            <a:r>
              <a:rPr sz="1650" b="0">
                <a:solidFill>
                  <a:srgbClr val="F8FAFC"/>
                </a:solidFill>
                <a:latin typeface="Arial"/>
                <a:ea typeface="Arial"/>
                <a:cs typeface="Arial"/>
              </a:rPr>
              <a:t>Backend foundation, core APIs, task dependencies,</a:t>
            </a:r>
          </a:p>
          <a:p xmlns:a="http://schemas.openxmlformats.org/drawingml/2006/main">
            <a:pPr algn="l">
              <a:defRPr sz="1650" b="0">
                <a:solidFill>
                  <a:srgbClr val="F8FAFC"/>
                </a:solidFill>
                <a:latin typeface="Arial"/>
                <a:ea typeface="Arial"/>
                <a:cs typeface="Arial"/>
              </a:defRPr>
            </a:pPr>
            <a:r>
              <a:rPr sz="1650" b="0">
                <a:solidFill>
                  <a:srgbClr val="F8FAFC"/>
                </a:solidFill>
                <a:latin typeface="Arial"/>
                <a:ea typeface="Arial"/>
                <a:cs typeface="Arial"/>
              </a:rPr>
              <a:t>project progress, teams, and an ML integration boundary</a:t>
            </a:r>
          </a:p>
        </p:txBody>
      </p:sp>
      <p:sp>
        <p:nvSpPr>
          <p:cNvPr id="7" name="">
            <a:extLst xmlns:a="http://schemas.openxmlformats.org/drawingml/2006/main">
              <a:ext uri="{FF2B5EF4-FFF2-40B4-BE49-F238E27FC236}">
                <a16:creationId xmlns:a16="http://schemas.microsoft.com/office/drawing/2014/main" id="{4CC97D70-D447-4F6C-936A-4823BE5CE3F2}"/>
              </a:ext>
            </a:extLst>
          </p:cNvPr>
          <p:cNvSpPr>
            <a:spLocks xmlns:a="http://schemas.openxmlformats.org/drawingml/2006/main" noGrp="1"/>
          </p:cNvSpPr>
          <p:nvPr/>
        </p:nvSpPr>
        <p:spPr>
          <a:xfrm xmlns:a="http://schemas.openxmlformats.org/drawingml/2006/main">
            <a:off x="723900" y="58102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4DD4AC"/>
                </a:solidFill>
                <a:latin typeface="Arial"/>
                <a:ea typeface="Arial"/>
                <a:cs typeface="Arial"/>
              </a:defRPr>
            </a:pPr>
            <a:r>
              <a:rPr sz="1500" b="1">
                <a:solidFill>
                  <a:srgbClr val="4DD4AC"/>
                </a:solidFill>
                <a:latin typeface="Arial"/>
                <a:ea typeface="Arial"/>
                <a:cs typeface="Arial"/>
              </a:rPr>
              <a:t>Mohammad Abdelfattah</a:t>
            </a:r>
          </a:p>
        </p:txBody>
      </p:sp>
      <p:sp>
        <p:nvSpPr>
          <p:cNvPr id="8" name="">
            <a:extLst xmlns:a="http://schemas.openxmlformats.org/drawingml/2006/main">
              <a:ext uri="{FF2B5EF4-FFF2-40B4-BE49-F238E27FC236}">
                <a16:creationId xmlns:a16="http://schemas.microsoft.com/office/drawing/2014/main" id="{9905D233-ECF8-4CD4-A72D-C36F5310AF70}"/>
              </a:ext>
            </a:extLst>
          </p:cNvPr>
          <p:cNvSpPr>
            <a:spLocks xmlns:a="http://schemas.openxmlformats.org/drawingml/2006/main" noGrp="1"/>
          </p:cNvSpPr>
          <p:nvPr/>
        </p:nvSpPr>
        <p:spPr>
          <a:xfrm xmlns:a="http://schemas.openxmlformats.org/drawingml/2006/main">
            <a:off x="723900" y="61150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FC1D6"/>
                </a:solidFill>
                <a:latin typeface="Arial"/>
                <a:ea typeface="Arial"/>
                <a:cs typeface="Arial"/>
              </a:defRPr>
            </a:pPr>
            <a:r>
              <a:rPr sz="1275" b="0">
                <a:solidFill>
                  <a:srgbClr val="AFC1D6"/>
                </a:solidFill>
                <a:latin typeface="Arial"/>
                <a:ea typeface="Arial"/>
                <a:cs typeface="Arial"/>
              </a:rPr>
              <a:t>Backend Developer</a:t>
            </a:r>
          </a:p>
        </p:txBody>
      </p:sp>
      <p:sp>
        <p:nvSpPr>
          <p:cNvPr id="9" name="">
            <a:extLst xmlns:a="http://schemas.openxmlformats.org/drawingml/2006/main">
              <a:ext uri="{FF2B5EF4-FFF2-40B4-BE49-F238E27FC236}">
                <a16:creationId xmlns:a16="http://schemas.microsoft.com/office/drawing/2014/main" id="{C11E9122-D05E-4DD9-9D87-F156B44374BE}"/>
              </a:ext>
            </a:extLst>
          </p:cNvPr>
          <p:cNvSpPr>
            <a:spLocks xmlns:a="http://schemas.openxmlformats.org/drawingml/2006/main" noGrp="1"/>
          </p:cNvSpPr>
          <p:nvPr/>
        </p:nvSpPr>
        <p:spPr>
          <a:xfrm xmlns:a="http://schemas.openxmlformats.org/drawingml/2006/main">
            <a:off x="8858250" y="904875"/>
            <a:ext cx="2286000" cy="2286000"/>
          </a:xfrm>
          <a:prstGeom xmlns:a="http://schemas.openxmlformats.org/drawingml/2006/main" prst="roundRect">
            <a:avLst>
              <a:gd name="adj" fmla="val 3333"/>
            </a:avLst>
          </a:prstGeom>
          <a:solidFill xmlns:a="http://schemas.openxmlformats.org/drawingml/2006/main">
            <a:srgbClr val="14213D"/>
          </a:solidFill>
          <a:ln xmlns:a="http://schemas.openxmlformats.org/drawingml/2006/main" w="28575">
            <a:solidFill>
              <a:srgbClr val="29C5F6"/>
            </a:solidFill>
          </a:ln>
        </p:spPr>
      </p:sp>
      <p:sp>
        <p:nvSpPr>
          <p:cNvPr id="10" name="">
            <a:extLst xmlns:a="http://schemas.openxmlformats.org/drawingml/2006/main">
              <a:ext uri="{FF2B5EF4-FFF2-40B4-BE49-F238E27FC236}">
                <a16:creationId xmlns:a16="http://schemas.microsoft.com/office/drawing/2014/main" id="{7E6D24FB-B9AD-4332-BCB0-0E7118235BF4}"/>
              </a:ext>
            </a:extLst>
          </p:cNvPr>
          <p:cNvSpPr>
            <a:spLocks xmlns:a="http://schemas.openxmlformats.org/drawingml/2006/main" noGrp="1"/>
          </p:cNvSpPr>
          <p:nvPr/>
        </p:nvSpPr>
        <p:spPr>
          <a:xfrm xmlns:a="http://schemas.openxmlformats.org/drawingml/2006/main">
            <a:off x="8858250" y="120967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050" b="1">
                <a:solidFill>
                  <a:srgbClr val="29C5F6"/>
                </a:solidFill>
                <a:latin typeface="Arial"/>
                <a:ea typeface="Arial"/>
                <a:cs typeface="Arial"/>
              </a:defRPr>
            </a:pPr>
            <a:r>
              <a:rPr sz="4050" b="1">
                <a:solidFill>
                  <a:srgbClr val="29C5F6"/>
                </a:solidFill>
                <a:latin typeface="Arial"/>
                <a:ea typeface="Arial"/>
                <a:cs typeface="Arial"/>
              </a:rPr>
              <a:t>API</a:t>
            </a:r>
          </a:p>
        </p:txBody>
      </p:sp>
      <p:sp>
        <p:nvSpPr>
          <p:cNvPr id="11" name="">
            <a:extLst xmlns:a="http://schemas.openxmlformats.org/drawingml/2006/main">
              <a:ext uri="{FF2B5EF4-FFF2-40B4-BE49-F238E27FC236}">
                <a16:creationId xmlns:a16="http://schemas.microsoft.com/office/drawing/2014/main" id="{CD414F0D-A6A3-4190-8851-57A529BFAFF0}"/>
              </a:ext>
            </a:extLst>
          </p:cNvPr>
          <p:cNvSpPr>
            <a:spLocks xmlns:a="http://schemas.openxmlformats.org/drawingml/2006/main" noGrp="1"/>
          </p:cNvSpPr>
          <p:nvPr/>
        </p:nvSpPr>
        <p:spPr>
          <a:xfrm xmlns:a="http://schemas.openxmlformats.org/drawingml/2006/main">
            <a:off x="8858250" y="20478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F8FAFC"/>
                </a:solidFill>
                <a:latin typeface="Arial"/>
                <a:ea typeface="Arial"/>
                <a:cs typeface="Arial"/>
              </a:defRPr>
            </a:pPr>
            <a:r>
              <a:rPr sz="1800" b="1">
                <a:solidFill>
                  <a:srgbClr val="F8FAFC"/>
                </a:solidFill>
                <a:latin typeface="Arial"/>
                <a:ea typeface="Arial"/>
                <a:cs typeface="Arial"/>
              </a:rPr>
              <a:t>42 actions</a:t>
            </a:r>
          </a:p>
        </p:txBody>
      </p:sp>
      <p:sp>
        <p:nvSpPr>
          <p:cNvPr id="12" name="">
            <a:extLst xmlns:a="http://schemas.openxmlformats.org/drawingml/2006/main">
              <a:ext uri="{FF2B5EF4-FFF2-40B4-BE49-F238E27FC236}">
                <a16:creationId xmlns:a16="http://schemas.microsoft.com/office/drawing/2014/main" id="{B8E2A77F-E2FB-430B-8C43-E9700AB9485F}"/>
              </a:ext>
            </a:extLst>
          </p:cNvPr>
          <p:cNvSpPr>
            <a:spLocks xmlns:a="http://schemas.openxmlformats.org/drawingml/2006/main" noGrp="1"/>
          </p:cNvSpPr>
          <p:nvPr/>
        </p:nvSpPr>
        <p:spPr>
          <a:xfrm xmlns:a="http://schemas.openxmlformats.org/drawingml/2006/main">
            <a:off x="8858250" y="24765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4DD4AC"/>
                </a:solidFill>
                <a:latin typeface="Arial"/>
                <a:ea typeface="Arial"/>
                <a:cs typeface="Arial"/>
              </a:defRPr>
            </a:pPr>
            <a:r>
              <a:rPr sz="1425" b="1">
                <a:solidFill>
                  <a:srgbClr val="4DD4AC"/>
                </a:solidFill>
                <a:latin typeface="Arial"/>
                <a:ea typeface="Arial"/>
                <a:cs typeface="Arial"/>
              </a:rPr>
              <a:t>63 passing tests</a:t>
            </a:r>
          </a:p>
        </p:txBody>
      </p:sp>
    </p:spTree>
    <p:extLst>
      <p:ext uri="{BB962C8B-B14F-4D97-AF65-F5344CB8AC3E}">
        <p14:creationId xmlns:p14="http://schemas.microsoft.com/office/powerpoint/2010/main" val="601867055"/>
      </p:ext>
    </p:extLst>
  </p:cSld>
</p:sld>
</file>

<file path=ppt/slides/slide2.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1E5F4A8-4095-4B85-AFB0-656B098E3183}"/>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7ED3FE29-0339-4CF3-BB71-E86941A1C017}"/>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Backend work overview</a:t>
            </a:r>
          </a:p>
        </p:txBody>
      </p:sp>
      <p:sp>
        <p:nvSpPr>
          <p:cNvPr id="3" name="">
            <a:extLst xmlns:a="http://schemas.openxmlformats.org/drawingml/2006/main">
              <a:ext uri="{FF2B5EF4-FFF2-40B4-BE49-F238E27FC236}">
                <a16:creationId xmlns:a16="http://schemas.microsoft.com/office/drawing/2014/main" id="{414C0D49-8F16-4145-8122-99CEB6A86F66}"/>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Five assigned tasks, implemented as one connected backend flow</a:t>
            </a:r>
          </a:p>
        </p:txBody>
      </p:sp>
      <p:sp>
        <p:nvSpPr>
          <p:cNvPr id="4" name="">
            <a:extLst xmlns:a="http://schemas.openxmlformats.org/drawingml/2006/main">
              <a:ext uri="{FF2B5EF4-FFF2-40B4-BE49-F238E27FC236}">
                <a16:creationId xmlns:a16="http://schemas.microsoft.com/office/drawing/2014/main" id="{748C018B-2BC2-424E-A8F1-9EAD92EC0A99}"/>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474394-3985-4033-9CEB-62725150D218}"/>
              </a:ext>
            </a:extLst>
          </p:cNvPr>
          <p:cNvSpPr>
            <a:spLocks xmlns:a="http://schemas.openxmlformats.org/drawingml/2006/main" noGrp="1"/>
          </p:cNvSpPr>
          <p:nvPr/>
        </p:nvSpPr>
        <p:spPr>
          <a:xfrm xmlns:a="http://schemas.openxmlformats.org/drawingml/2006/main">
            <a:off x="523875" y="2381250"/>
            <a:ext cx="1809750" cy="704850"/>
          </a:xfrm>
          <a:prstGeom xmlns:a="http://schemas.openxmlformats.org/drawingml/2006/main" prst="roundRect">
            <a:avLst>
              <a:gd name="adj" fmla="val 10811"/>
            </a:avLst>
          </a:prstGeom>
          <a:solidFill xmlns:a="http://schemas.openxmlformats.org/drawingml/2006/main">
            <a:srgbClr val="29C5F6"/>
          </a:solidFill>
          <a:ln xmlns:a="http://schemas.openxmlformats.org/drawingml/2006/main" w="0">
            <a:solidFill>
              <a:srgbClr val="29C5F6"/>
            </a:solidFill>
          </a:ln>
        </p:spPr>
      </p:sp>
      <p:sp>
        <p:nvSpPr>
          <p:cNvPr id="6" name="">
            <a:extLst xmlns:a="http://schemas.openxmlformats.org/drawingml/2006/main">
              <a:ext uri="{FF2B5EF4-FFF2-40B4-BE49-F238E27FC236}">
                <a16:creationId xmlns:a16="http://schemas.microsoft.com/office/drawing/2014/main" id="{A65BE5B2-2676-4449-8CC3-EF8ADFCAC7F7}"/>
              </a:ext>
            </a:extLst>
          </p:cNvPr>
          <p:cNvSpPr>
            <a:spLocks xmlns:a="http://schemas.openxmlformats.org/drawingml/2006/main" noGrp="1"/>
          </p:cNvSpPr>
          <p:nvPr/>
        </p:nvSpPr>
        <p:spPr>
          <a:xfrm xmlns:a="http://schemas.openxmlformats.org/drawingml/2006/main">
            <a:off x="619125"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Foundation</a:t>
            </a:r>
          </a:p>
        </p:txBody>
      </p:sp>
      <p:sp>
        <p:nvSpPr>
          <p:cNvPr id="7" name="">
            <a:extLst xmlns:a="http://schemas.openxmlformats.org/drawingml/2006/main">
              <a:ext uri="{FF2B5EF4-FFF2-40B4-BE49-F238E27FC236}">
                <a16:creationId xmlns:a16="http://schemas.microsoft.com/office/drawing/2014/main" id="{0F8D2EB6-3D44-404F-92A0-876E43D733C5}"/>
              </a:ext>
            </a:extLst>
          </p:cNvPr>
          <p:cNvSpPr>
            <a:spLocks xmlns:a="http://schemas.openxmlformats.org/drawingml/2006/main" noGrp="1"/>
          </p:cNvSpPr>
          <p:nvPr/>
        </p:nvSpPr>
        <p:spPr>
          <a:xfrm xmlns:a="http://schemas.openxmlformats.org/drawingml/2006/main">
            <a:off x="2828925" y="2381250"/>
            <a:ext cx="180975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8" name="">
            <a:extLst xmlns:a="http://schemas.openxmlformats.org/drawingml/2006/main">
              <a:ext uri="{FF2B5EF4-FFF2-40B4-BE49-F238E27FC236}">
                <a16:creationId xmlns:a16="http://schemas.microsoft.com/office/drawing/2014/main" id="{009ADE21-58B1-41A9-9EDA-5DC6C64496F2}"/>
              </a:ext>
            </a:extLst>
          </p:cNvPr>
          <p:cNvSpPr>
            <a:spLocks xmlns:a="http://schemas.openxmlformats.org/drawingml/2006/main" noGrp="1"/>
          </p:cNvSpPr>
          <p:nvPr/>
        </p:nvSpPr>
        <p:spPr>
          <a:xfrm xmlns:a="http://schemas.openxmlformats.org/drawingml/2006/main">
            <a:off x="2924175"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Core APIs</a:t>
            </a:r>
          </a:p>
        </p:txBody>
      </p:sp>
      <p:sp>
        <p:nvSpPr>
          <p:cNvPr id="9" name="">
            <a:extLst xmlns:a="http://schemas.openxmlformats.org/drawingml/2006/main">
              <a:ext uri="{FF2B5EF4-FFF2-40B4-BE49-F238E27FC236}">
                <a16:creationId xmlns:a16="http://schemas.microsoft.com/office/drawing/2014/main" id="{0C947B35-1C20-4267-AB68-CED48E95CBF6}"/>
              </a:ext>
            </a:extLst>
          </p:cNvPr>
          <p:cNvSpPr>
            <a:spLocks xmlns:a="http://schemas.openxmlformats.org/drawingml/2006/main" noGrp="1"/>
          </p:cNvSpPr>
          <p:nvPr/>
        </p:nvSpPr>
        <p:spPr>
          <a:xfrm xmlns:a="http://schemas.openxmlformats.org/drawingml/2006/main">
            <a:off x="5133975" y="2381250"/>
            <a:ext cx="180975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0" name="">
            <a:extLst xmlns:a="http://schemas.openxmlformats.org/drawingml/2006/main">
              <a:ext uri="{FF2B5EF4-FFF2-40B4-BE49-F238E27FC236}">
                <a16:creationId xmlns:a16="http://schemas.microsoft.com/office/drawing/2014/main" id="{F05AE78A-0B7A-4071-ADC3-096D0EBD93EB}"/>
              </a:ext>
            </a:extLst>
          </p:cNvPr>
          <p:cNvSpPr>
            <a:spLocks xmlns:a="http://schemas.openxmlformats.org/drawingml/2006/main" noGrp="1"/>
          </p:cNvSpPr>
          <p:nvPr/>
        </p:nvSpPr>
        <p:spPr>
          <a:xfrm xmlns:a="http://schemas.openxmlformats.org/drawingml/2006/main">
            <a:off x="5229225"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Dependencies</a:t>
            </a:r>
          </a:p>
        </p:txBody>
      </p:sp>
      <p:sp>
        <p:nvSpPr>
          <p:cNvPr id="11" name="">
            <a:extLst xmlns:a="http://schemas.openxmlformats.org/drawingml/2006/main">
              <a:ext uri="{FF2B5EF4-FFF2-40B4-BE49-F238E27FC236}">
                <a16:creationId xmlns:a16="http://schemas.microsoft.com/office/drawing/2014/main" id="{1BF26100-5B60-464F-82AB-CD9A8FF799C2}"/>
              </a:ext>
            </a:extLst>
          </p:cNvPr>
          <p:cNvSpPr>
            <a:spLocks xmlns:a="http://schemas.openxmlformats.org/drawingml/2006/main" noGrp="1"/>
          </p:cNvSpPr>
          <p:nvPr/>
        </p:nvSpPr>
        <p:spPr>
          <a:xfrm xmlns:a="http://schemas.openxmlformats.org/drawingml/2006/main">
            <a:off x="7439025" y="2381250"/>
            <a:ext cx="180975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2" name="">
            <a:extLst xmlns:a="http://schemas.openxmlformats.org/drawingml/2006/main">
              <a:ext uri="{FF2B5EF4-FFF2-40B4-BE49-F238E27FC236}">
                <a16:creationId xmlns:a16="http://schemas.microsoft.com/office/drawing/2014/main" id="{198E2CA5-86F0-4EFF-8A13-C73E5B574B3B}"/>
              </a:ext>
            </a:extLst>
          </p:cNvPr>
          <p:cNvSpPr>
            <a:spLocks xmlns:a="http://schemas.openxmlformats.org/drawingml/2006/main" noGrp="1"/>
          </p:cNvSpPr>
          <p:nvPr/>
        </p:nvSpPr>
        <p:spPr>
          <a:xfrm xmlns:a="http://schemas.openxmlformats.org/drawingml/2006/main">
            <a:off x="7534275"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Progress &amp; Teams</a:t>
            </a:r>
          </a:p>
        </p:txBody>
      </p:sp>
      <p:sp>
        <p:nvSpPr>
          <p:cNvPr id="13" name="">
            <a:extLst xmlns:a="http://schemas.openxmlformats.org/drawingml/2006/main">
              <a:ext uri="{FF2B5EF4-FFF2-40B4-BE49-F238E27FC236}">
                <a16:creationId xmlns:a16="http://schemas.microsoft.com/office/drawing/2014/main" id="{34E4F3A9-70A4-4B2B-ABC5-1747C1649F83}"/>
              </a:ext>
            </a:extLst>
          </p:cNvPr>
          <p:cNvSpPr>
            <a:spLocks xmlns:a="http://schemas.openxmlformats.org/drawingml/2006/main" noGrp="1"/>
          </p:cNvSpPr>
          <p:nvPr/>
        </p:nvSpPr>
        <p:spPr>
          <a:xfrm xmlns:a="http://schemas.openxmlformats.org/drawingml/2006/main">
            <a:off x="9744075" y="2381250"/>
            <a:ext cx="1809750" cy="704850"/>
          </a:xfrm>
          <a:prstGeom xmlns:a="http://schemas.openxmlformats.org/drawingml/2006/main" prst="roundRect">
            <a:avLst>
              <a:gd name="adj" fmla="val 10811"/>
            </a:avLst>
          </a:prstGeom>
          <a:solidFill xmlns:a="http://schemas.openxmlformats.org/drawingml/2006/main">
            <a:srgbClr val="4DD4AC"/>
          </a:solidFill>
          <a:ln xmlns:a="http://schemas.openxmlformats.org/drawingml/2006/main" w="0">
            <a:solidFill>
              <a:srgbClr val="4DD4AC"/>
            </a:solidFill>
          </a:ln>
        </p:spPr>
      </p:sp>
      <p:sp>
        <p:nvSpPr>
          <p:cNvPr id="14" name="">
            <a:extLst xmlns:a="http://schemas.openxmlformats.org/drawingml/2006/main">
              <a:ext uri="{FF2B5EF4-FFF2-40B4-BE49-F238E27FC236}">
                <a16:creationId xmlns:a16="http://schemas.microsoft.com/office/drawing/2014/main" id="{E560966C-6D57-4D3F-A649-2B8264CD6AEE}"/>
              </a:ext>
            </a:extLst>
          </p:cNvPr>
          <p:cNvSpPr>
            <a:spLocks xmlns:a="http://schemas.openxmlformats.org/drawingml/2006/main" noGrp="1"/>
          </p:cNvSpPr>
          <p:nvPr/>
        </p:nvSpPr>
        <p:spPr>
          <a:xfrm xmlns:a="http://schemas.openxmlformats.org/drawingml/2006/main">
            <a:off x="9839325" y="24765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AI / ML Boundary</a:t>
            </a:r>
          </a:p>
        </p:txBody>
      </p:sp>
      <p:cxnSp>
        <p:nvCxnSpPr>
          <p:cNvPr id="45" name=""/>
          <p:cNvCxnSpPr>
            <a:stCxn xmlns:a="http://schemas.openxmlformats.org/drawingml/2006/main" id="5" idx="3"/>
            <a:endCxn xmlns:a="http://schemas.openxmlformats.org/drawingml/2006/main" id="7" idx="1"/>
          </p:cNvCxnSpPr>
          <p:nvPr/>
        </p:nvCxnSpPr>
        <p:spPr>
          <a:xfrm xmlns:a="http://schemas.openxmlformats.org/drawingml/2006/main">
            <a:off x="2333625" y="2733675"/>
            <a:ext cx="495300" cy="0"/>
          </a:xfrm>
          <a:prstGeom xmlns:a="http://schemas.openxmlformats.org/drawingml/2006/main" prst="straightConnector1">
            <a:avLst/>
          </a:prstGeom>
          <a:ln xmlns:a="http://schemas.openxmlformats.org/drawingml/2006/main" w="28575">
            <a:solidFill>
              <a:srgbClr val="AFC1D6"/>
            </a:solidFill>
            <a:prstDash val="solid"/>
            <a:tailEnd type="triangle" w="med" len="med"/>
          </a:ln>
        </p:spPr>
      </p:cxn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4638675" y="2733675"/>
            <a:ext cx="495300" cy="0"/>
          </a:xfrm>
          <a:prstGeom xmlns:a="http://schemas.openxmlformats.org/drawingml/2006/main" prst="straightConnector1">
            <a:avLst/>
          </a:prstGeom>
          <a:ln xmlns:a="http://schemas.openxmlformats.org/drawingml/2006/main" w="28575">
            <a:solidFill>
              <a:srgbClr val="AFC1D6"/>
            </a:solidFill>
            <a:prstDash val="solid"/>
            <a:tailEnd type="triangle" w="med" len="med"/>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6943725" y="2733675"/>
            <a:ext cx="495300" cy="0"/>
          </a:xfrm>
          <a:prstGeom xmlns:a="http://schemas.openxmlformats.org/drawingml/2006/main" prst="straightConnector1">
            <a:avLst/>
          </a:prstGeom>
          <a:ln xmlns:a="http://schemas.openxmlformats.org/drawingml/2006/main" w="28575">
            <a:solidFill>
              <a:srgbClr val="AFC1D6"/>
            </a:solidFill>
            <a:prstDash val="solid"/>
            <a:tailEnd type="triangle" w="med" len="med"/>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9248775" y="2733675"/>
            <a:ext cx="495300" cy="0"/>
          </a:xfrm>
          <a:prstGeom xmlns:a="http://schemas.openxmlformats.org/drawingml/2006/main" prst="straightConnector1">
            <a:avLst/>
          </a:prstGeom>
          <a:ln xmlns:a="http://schemas.openxmlformats.org/drawingml/2006/main" w="28575">
            <a:solidFill>
              <a:srgbClr val="AFC1D6"/>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2CF76796-C8CB-4DA6-89D1-FF32EF1C5715}"/>
              </a:ext>
            </a:extLst>
          </p:cNvPr>
          <p:cNvSpPr>
            <a:spLocks xmlns:a="http://schemas.openxmlformats.org/drawingml/2006/main" noGrp="1"/>
          </p:cNvSpPr>
          <p:nvPr/>
        </p:nvSpPr>
        <p:spPr>
          <a:xfrm xmlns:a="http://schemas.openxmlformats.org/drawingml/2006/main">
            <a:off x="533400" y="3524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AFC1D6"/>
                </a:solidFill>
                <a:latin typeface="Arial"/>
                <a:ea typeface="Arial"/>
                <a:cs typeface="Arial"/>
              </a:defRPr>
            </a:pPr>
            <a:r>
              <a:rPr sz="1275" b="1">
                <a:solidFill>
                  <a:srgbClr val="AFC1D6"/>
                </a:solidFill>
                <a:latin typeface="Arial"/>
                <a:ea typeface="Arial"/>
                <a:cs typeface="Arial"/>
              </a:rPr>
              <a:t>Architecture</a:t>
            </a:r>
          </a:p>
        </p:txBody>
      </p:sp>
      <p:sp>
        <p:nvSpPr>
          <p:cNvPr id="20" name="">
            <a:extLst xmlns:a="http://schemas.openxmlformats.org/drawingml/2006/main">
              <a:ext uri="{FF2B5EF4-FFF2-40B4-BE49-F238E27FC236}">
                <a16:creationId xmlns:a16="http://schemas.microsoft.com/office/drawing/2014/main" id="{EEEC4FA9-21BC-448A-9EE9-5F0E553D3D94}"/>
              </a:ext>
            </a:extLst>
          </p:cNvPr>
          <p:cNvSpPr>
            <a:spLocks xmlns:a="http://schemas.openxmlformats.org/drawingml/2006/main" noGrp="1"/>
          </p:cNvSpPr>
          <p:nvPr/>
        </p:nvSpPr>
        <p:spPr>
          <a:xfrm xmlns:a="http://schemas.openxmlformats.org/drawingml/2006/main">
            <a:off x="2838450" y="3524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AFC1D6"/>
                </a:solidFill>
                <a:latin typeface="Arial"/>
                <a:ea typeface="Arial"/>
                <a:cs typeface="Arial"/>
              </a:defRPr>
            </a:pPr>
            <a:r>
              <a:rPr sz="1275" b="1">
                <a:solidFill>
                  <a:srgbClr val="AFC1D6"/>
                </a:solidFill>
                <a:latin typeface="Arial"/>
                <a:ea typeface="Arial"/>
                <a:cs typeface="Arial"/>
              </a:rPr>
              <a:t>Projects + Tasks</a:t>
            </a:r>
          </a:p>
        </p:txBody>
      </p:sp>
      <p:sp>
        <p:nvSpPr>
          <p:cNvPr id="21" name="">
            <a:extLst xmlns:a="http://schemas.openxmlformats.org/drawingml/2006/main">
              <a:ext uri="{FF2B5EF4-FFF2-40B4-BE49-F238E27FC236}">
                <a16:creationId xmlns:a16="http://schemas.microsoft.com/office/drawing/2014/main" id="{F53C3C88-E361-43F1-AA6A-7008F34E64DF}"/>
              </a:ext>
            </a:extLst>
          </p:cNvPr>
          <p:cNvSpPr>
            <a:spLocks xmlns:a="http://schemas.openxmlformats.org/drawingml/2006/main" noGrp="1"/>
          </p:cNvSpPr>
          <p:nvPr/>
        </p:nvSpPr>
        <p:spPr>
          <a:xfrm xmlns:a="http://schemas.openxmlformats.org/drawingml/2006/main">
            <a:off x="5143500" y="3524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AFC1D6"/>
                </a:solidFill>
                <a:latin typeface="Arial"/>
                <a:ea typeface="Arial"/>
                <a:cs typeface="Arial"/>
              </a:defRPr>
            </a:pPr>
            <a:r>
              <a:rPr sz="1275" b="1">
                <a:solidFill>
                  <a:srgbClr val="AFC1D6"/>
                </a:solidFill>
                <a:latin typeface="Arial"/>
                <a:ea typeface="Arial"/>
                <a:cs typeface="Arial"/>
              </a:rPr>
              <a:t>Safe task graph</a:t>
            </a:r>
          </a:p>
        </p:txBody>
      </p:sp>
      <p:sp>
        <p:nvSpPr>
          <p:cNvPr id="22" name="">
            <a:extLst xmlns:a="http://schemas.openxmlformats.org/drawingml/2006/main">
              <a:ext uri="{FF2B5EF4-FFF2-40B4-BE49-F238E27FC236}">
                <a16:creationId xmlns:a16="http://schemas.microsoft.com/office/drawing/2014/main" id="{1B9BBA4B-2078-42A9-B36F-B55934835C29}"/>
              </a:ext>
            </a:extLst>
          </p:cNvPr>
          <p:cNvSpPr>
            <a:spLocks xmlns:a="http://schemas.openxmlformats.org/drawingml/2006/main" noGrp="1"/>
          </p:cNvSpPr>
          <p:nvPr/>
        </p:nvSpPr>
        <p:spPr>
          <a:xfrm xmlns:a="http://schemas.openxmlformats.org/drawingml/2006/main">
            <a:off x="7448550" y="3524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AFC1D6"/>
                </a:solidFill>
                <a:latin typeface="Arial"/>
                <a:ea typeface="Arial"/>
                <a:cs typeface="Arial"/>
              </a:defRPr>
            </a:pPr>
            <a:r>
              <a:rPr sz="1275" b="1">
                <a:solidFill>
                  <a:srgbClr val="AFC1D6"/>
                </a:solidFill>
                <a:latin typeface="Arial"/>
                <a:ea typeface="Arial"/>
                <a:cs typeface="Arial"/>
              </a:rPr>
              <a:t>Flutter-ready DTOs</a:t>
            </a:r>
          </a:p>
        </p:txBody>
      </p:sp>
      <p:sp>
        <p:nvSpPr>
          <p:cNvPr id="23" name="">
            <a:extLst xmlns:a="http://schemas.openxmlformats.org/drawingml/2006/main">
              <a:ext uri="{FF2B5EF4-FFF2-40B4-BE49-F238E27FC236}">
                <a16:creationId xmlns:a16="http://schemas.microsoft.com/office/drawing/2014/main" id="{700FB335-C4E4-4471-940E-52AFF556B928}"/>
              </a:ext>
            </a:extLst>
          </p:cNvPr>
          <p:cNvSpPr>
            <a:spLocks xmlns:a="http://schemas.openxmlformats.org/drawingml/2006/main" noGrp="1"/>
          </p:cNvSpPr>
          <p:nvPr/>
        </p:nvSpPr>
        <p:spPr>
          <a:xfrm xmlns:a="http://schemas.openxmlformats.org/drawingml/2006/main">
            <a:off x="9753600" y="35242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AFC1D6"/>
                </a:solidFill>
                <a:latin typeface="Arial"/>
                <a:ea typeface="Arial"/>
                <a:cs typeface="Arial"/>
              </a:defRPr>
            </a:pPr>
            <a:r>
              <a:rPr sz="1275" b="1">
                <a:solidFill>
                  <a:srgbClr val="AFC1D6"/>
                </a:solidFill>
                <a:latin typeface="Arial"/>
                <a:ea typeface="Arial"/>
                <a:cs typeface="Arial"/>
              </a:rPr>
              <a:t>Adapter contract</a:t>
            </a:r>
          </a:p>
        </p:txBody>
      </p:sp>
      <p:sp>
        <p:nvSpPr>
          <p:cNvPr id="24" name="">
            <a:extLst xmlns:a="http://schemas.openxmlformats.org/drawingml/2006/main">
              <a:ext uri="{FF2B5EF4-FFF2-40B4-BE49-F238E27FC236}">
                <a16:creationId xmlns:a16="http://schemas.microsoft.com/office/drawing/2014/main" id="{484D56DD-ECEC-4CB7-8AB9-19E3F2D21A74}"/>
              </a:ext>
            </a:extLst>
          </p:cNvPr>
          <p:cNvSpPr>
            <a:spLocks xmlns:a="http://schemas.openxmlformats.org/drawingml/2006/main" noGrp="1"/>
          </p:cNvSpPr>
          <p:nvPr/>
        </p:nvSpPr>
        <p:spPr>
          <a:xfrm xmlns:a="http://schemas.openxmlformats.org/drawingml/2006/main">
            <a:off x="552450" y="4686300"/>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8FAFC"/>
                </a:solidFill>
                <a:latin typeface="Arial"/>
                <a:ea typeface="Arial"/>
                <a:cs typeface="Arial"/>
              </a:defRPr>
            </a:pPr>
            <a:r>
              <a:rPr sz="1800" b="1">
                <a:solidFill>
                  <a:srgbClr val="F8FAFC"/>
                </a:solidFill>
                <a:latin typeface="Arial"/>
                <a:ea typeface="Arial"/>
                <a:cs typeface="Arial"/>
              </a:rPr>
              <a:t>Current verified scope</a:t>
            </a:r>
          </a:p>
        </p:txBody>
      </p:sp>
      <p:sp>
        <p:nvSpPr>
          <p:cNvPr id="25" name="">
            <a:extLst xmlns:a="http://schemas.openxmlformats.org/drawingml/2006/main">
              <a:ext uri="{FF2B5EF4-FFF2-40B4-BE49-F238E27FC236}">
                <a16:creationId xmlns:a16="http://schemas.microsoft.com/office/drawing/2014/main" id="{3C7E001F-D39D-4B9F-84F9-13D57B86DB9F}"/>
              </a:ext>
            </a:extLst>
          </p:cNvPr>
          <p:cNvSpPr>
            <a:spLocks xmlns:a="http://schemas.openxmlformats.org/drawingml/2006/main" noGrp="1"/>
          </p:cNvSpPr>
          <p:nvPr/>
        </p:nvSpPr>
        <p:spPr>
          <a:xfrm xmlns:a="http://schemas.openxmlformats.org/drawingml/2006/main">
            <a:off x="552450" y="51911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9C5F6"/>
                </a:solidFill>
                <a:latin typeface="Arial"/>
                <a:ea typeface="Arial"/>
                <a:cs typeface="Arial"/>
              </a:defRPr>
            </a:pPr>
            <a:r>
              <a:rPr sz="1425" b="1">
                <a:solidFill>
                  <a:srgbClr val="29C5F6"/>
                </a:solidFill>
                <a:latin typeface="Arial"/>
                <a:ea typeface="Arial"/>
                <a:cs typeface="Arial"/>
              </a:rPr>
              <a:t>2 EF Core migrations</a:t>
            </a:r>
          </a:p>
        </p:txBody>
      </p:sp>
      <p:sp>
        <p:nvSpPr>
          <p:cNvPr id="26" name="">
            <a:extLst xmlns:a="http://schemas.openxmlformats.org/drawingml/2006/main">
              <a:ext uri="{FF2B5EF4-FFF2-40B4-BE49-F238E27FC236}">
                <a16:creationId xmlns:a16="http://schemas.microsoft.com/office/drawing/2014/main" id="{D9358F4A-2878-4037-B143-03374C86965C}"/>
              </a:ext>
            </a:extLst>
          </p:cNvPr>
          <p:cNvSpPr>
            <a:spLocks xmlns:a="http://schemas.openxmlformats.org/drawingml/2006/main" noGrp="1"/>
          </p:cNvSpPr>
          <p:nvPr/>
        </p:nvSpPr>
        <p:spPr>
          <a:xfrm xmlns:a="http://schemas.openxmlformats.org/drawingml/2006/main">
            <a:off x="3429000" y="51911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4DD4AC"/>
                </a:solidFill>
                <a:latin typeface="Arial"/>
                <a:ea typeface="Arial"/>
                <a:cs typeface="Arial"/>
              </a:defRPr>
            </a:pPr>
            <a:r>
              <a:rPr sz="1425" b="1">
                <a:solidFill>
                  <a:srgbClr val="4DD4AC"/>
                </a:solidFill>
                <a:latin typeface="Arial"/>
                <a:ea typeface="Arial"/>
                <a:cs typeface="Arial"/>
              </a:rPr>
              <a:t>31 current tables</a:t>
            </a:r>
          </a:p>
        </p:txBody>
      </p:sp>
      <p:sp>
        <p:nvSpPr>
          <p:cNvPr id="27" name="">
            <a:extLst xmlns:a="http://schemas.openxmlformats.org/drawingml/2006/main">
              <a:ext uri="{FF2B5EF4-FFF2-40B4-BE49-F238E27FC236}">
                <a16:creationId xmlns:a16="http://schemas.microsoft.com/office/drawing/2014/main" id="{3AF8D738-0383-4F15-A6C7-06027F641063}"/>
              </a:ext>
            </a:extLst>
          </p:cNvPr>
          <p:cNvSpPr>
            <a:spLocks xmlns:a="http://schemas.openxmlformats.org/drawingml/2006/main" noGrp="1"/>
          </p:cNvSpPr>
          <p:nvPr/>
        </p:nvSpPr>
        <p:spPr>
          <a:xfrm xmlns:a="http://schemas.openxmlformats.org/drawingml/2006/main">
            <a:off x="6305550" y="51911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FFB25B"/>
                </a:solidFill>
                <a:latin typeface="Arial"/>
                <a:ea typeface="Arial"/>
                <a:cs typeface="Arial"/>
              </a:defRPr>
            </a:pPr>
            <a:r>
              <a:rPr sz="1425" b="1">
                <a:solidFill>
                  <a:srgbClr val="FFB25B"/>
                </a:solidFill>
                <a:latin typeface="Arial"/>
                <a:ea typeface="Arial"/>
                <a:cs typeface="Arial"/>
              </a:rPr>
              <a:t>51 foreign keys</a:t>
            </a:r>
          </a:p>
        </p:txBody>
      </p:sp>
      <p:sp>
        <p:nvSpPr>
          <p:cNvPr id="28" name="">
            <a:extLst xmlns:a="http://schemas.openxmlformats.org/drawingml/2006/main">
              <a:ext uri="{FF2B5EF4-FFF2-40B4-BE49-F238E27FC236}">
                <a16:creationId xmlns:a16="http://schemas.microsoft.com/office/drawing/2014/main" id="{95D012AB-78D6-4F74-AF97-47CE84C83265}"/>
              </a:ext>
            </a:extLst>
          </p:cNvPr>
          <p:cNvSpPr>
            <a:spLocks xmlns:a="http://schemas.openxmlformats.org/drawingml/2006/main" noGrp="1"/>
          </p:cNvSpPr>
          <p:nvPr/>
        </p:nvSpPr>
        <p:spPr>
          <a:xfrm xmlns:a="http://schemas.openxmlformats.org/drawingml/2006/main">
            <a:off x="9182100" y="51911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9C5F6"/>
                </a:solidFill>
                <a:latin typeface="Arial"/>
                <a:ea typeface="Arial"/>
                <a:cs typeface="Arial"/>
              </a:defRPr>
            </a:pPr>
            <a:r>
              <a:rPr sz="1425" b="1">
                <a:solidFill>
                  <a:srgbClr val="29C5F6"/>
                </a:solidFill>
                <a:latin typeface="Arial"/>
                <a:ea typeface="Arial"/>
                <a:cs typeface="Arial"/>
              </a:rPr>
              <a:t>5 database checks</a:t>
            </a:r>
          </a:p>
        </p:txBody>
      </p:sp>
      <p:sp>
        <p:nvSpPr>
          <p:cNvPr id="29" name="">
            <a:extLst xmlns:a="http://schemas.openxmlformats.org/drawingml/2006/main">
              <a:ext uri="{FF2B5EF4-FFF2-40B4-BE49-F238E27FC236}">
                <a16:creationId xmlns:a16="http://schemas.microsoft.com/office/drawing/2014/main" id="{702DE554-B6AD-4E8A-A9F4-18CF136C8638}"/>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Repository review, 19 Sep 2026</a:t>
            </a:r>
          </a:p>
        </p:txBody>
      </p:sp>
      <p:sp>
        <p:nvSpPr>
          <p:cNvPr id="30" name="">
            <a:extLst xmlns:a="http://schemas.openxmlformats.org/drawingml/2006/main">
              <a:ext uri="{FF2B5EF4-FFF2-40B4-BE49-F238E27FC236}">
                <a16:creationId xmlns:a16="http://schemas.microsoft.com/office/drawing/2014/main" id="{F752E5A2-9443-4838-97D2-D50FCAD00A87}"/>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1481938009"/>
      </p:ext>
    </p:extLst>
  </p:cSld>
</p:sld>
</file>

<file path=ppt/slides/slide3.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05F8475-D1C2-4D8A-8D70-462AA7EDB846}"/>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7E35A2F5-3E3B-4DDE-A029-0C2F984E4954}"/>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Backend foundation</a:t>
            </a:r>
          </a:p>
        </p:txBody>
      </p:sp>
      <p:sp>
        <p:nvSpPr>
          <p:cNvPr id="3" name="">
            <a:extLst xmlns:a="http://schemas.openxmlformats.org/drawingml/2006/main">
              <a:ext uri="{FF2B5EF4-FFF2-40B4-BE49-F238E27FC236}">
                <a16:creationId xmlns:a16="http://schemas.microsoft.com/office/drawing/2014/main" id="{99B8ABB8-3FEA-4F91-A4E7-E98C70E99E4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A service-based design with tenant and role boundaries</a:t>
            </a:r>
          </a:p>
        </p:txBody>
      </p:sp>
      <p:sp>
        <p:nvSpPr>
          <p:cNvPr id="4" name="">
            <a:extLst xmlns:a="http://schemas.openxmlformats.org/drawingml/2006/main">
              <a:ext uri="{FF2B5EF4-FFF2-40B4-BE49-F238E27FC236}">
                <a16:creationId xmlns:a16="http://schemas.microsoft.com/office/drawing/2014/main" id="{C2B442EC-6BDF-42DE-889D-EB310C8FBBBF}"/>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953B7C-D6FE-439B-BC97-2BE94167847F}"/>
              </a:ext>
            </a:extLst>
          </p:cNvPr>
          <p:cNvSpPr>
            <a:spLocks xmlns:a="http://schemas.openxmlformats.org/drawingml/2006/main" noGrp="1"/>
          </p:cNvSpPr>
          <p:nvPr/>
        </p:nvSpPr>
        <p:spPr>
          <a:xfrm xmlns:a="http://schemas.openxmlformats.org/drawingml/2006/main">
            <a:off x="552450" y="2095500"/>
            <a:ext cx="1714500" cy="704850"/>
          </a:xfrm>
          <a:prstGeom xmlns:a="http://schemas.openxmlformats.org/drawingml/2006/main" prst="roundRect">
            <a:avLst>
              <a:gd name="adj" fmla="val 10811"/>
            </a:avLst>
          </a:prstGeom>
          <a:solidFill xmlns:a="http://schemas.openxmlformats.org/drawingml/2006/main">
            <a:srgbClr val="29C5F6"/>
          </a:solidFill>
          <a:ln xmlns:a="http://schemas.openxmlformats.org/drawingml/2006/main" w="0">
            <a:solidFill>
              <a:srgbClr val="29C5F6"/>
            </a:solidFill>
          </a:ln>
        </p:spPr>
      </p:sp>
      <p:sp>
        <p:nvSpPr>
          <p:cNvPr id="6" name="">
            <a:extLst xmlns:a="http://schemas.openxmlformats.org/drawingml/2006/main">
              <a:ext uri="{FF2B5EF4-FFF2-40B4-BE49-F238E27FC236}">
                <a16:creationId xmlns:a16="http://schemas.microsoft.com/office/drawing/2014/main" id="{C3285C34-799B-4563-8044-09314A493544}"/>
              </a:ext>
            </a:extLst>
          </p:cNvPr>
          <p:cNvSpPr>
            <a:spLocks xmlns:a="http://schemas.openxmlformats.org/drawingml/2006/main" noGrp="1"/>
          </p:cNvSpPr>
          <p:nvPr/>
        </p:nvSpPr>
        <p:spPr>
          <a:xfrm xmlns:a="http://schemas.openxmlformats.org/drawingml/2006/main">
            <a:off x="647700" y="21907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Controllers</a:t>
            </a:r>
          </a:p>
        </p:txBody>
      </p:sp>
      <p:sp>
        <p:nvSpPr>
          <p:cNvPr id="7" name="">
            <a:extLst xmlns:a="http://schemas.openxmlformats.org/drawingml/2006/main">
              <a:ext uri="{FF2B5EF4-FFF2-40B4-BE49-F238E27FC236}">
                <a16:creationId xmlns:a16="http://schemas.microsoft.com/office/drawing/2014/main" id="{C031CD00-DDDA-49F2-B720-B4E204FE4D99}"/>
              </a:ext>
            </a:extLst>
          </p:cNvPr>
          <p:cNvSpPr>
            <a:spLocks xmlns:a="http://schemas.openxmlformats.org/drawingml/2006/main" noGrp="1"/>
          </p:cNvSpPr>
          <p:nvPr/>
        </p:nvSpPr>
        <p:spPr>
          <a:xfrm xmlns:a="http://schemas.openxmlformats.org/drawingml/2006/main">
            <a:off x="2571750" y="2095500"/>
            <a:ext cx="190500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8" name="">
            <a:extLst xmlns:a="http://schemas.openxmlformats.org/drawingml/2006/main">
              <a:ext uri="{FF2B5EF4-FFF2-40B4-BE49-F238E27FC236}">
                <a16:creationId xmlns:a16="http://schemas.microsoft.com/office/drawing/2014/main" id="{8FB6FF22-BAD3-499F-B7E1-B5D9E712E9AF}"/>
              </a:ext>
            </a:extLst>
          </p:cNvPr>
          <p:cNvSpPr>
            <a:spLocks xmlns:a="http://schemas.openxmlformats.org/drawingml/2006/main" noGrp="1"/>
          </p:cNvSpPr>
          <p:nvPr/>
        </p:nvSpPr>
        <p:spPr>
          <a:xfrm xmlns:a="http://schemas.openxmlformats.org/drawingml/2006/main">
            <a:off x="2667000" y="21907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Service Interfaces</a:t>
            </a:r>
          </a:p>
        </p:txBody>
      </p:sp>
      <p:sp>
        <p:nvSpPr>
          <p:cNvPr id="9" name="">
            <a:extLst xmlns:a="http://schemas.openxmlformats.org/drawingml/2006/main">
              <a:ext uri="{FF2B5EF4-FFF2-40B4-BE49-F238E27FC236}">
                <a16:creationId xmlns:a16="http://schemas.microsoft.com/office/drawing/2014/main" id="{A01BA34E-8600-48F0-8B35-CBEA4107DF8B}"/>
              </a:ext>
            </a:extLst>
          </p:cNvPr>
          <p:cNvSpPr>
            <a:spLocks xmlns:a="http://schemas.openxmlformats.org/drawingml/2006/main" noGrp="1"/>
          </p:cNvSpPr>
          <p:nvPr/>
        </p:nvSpPr>
        <p:spPr>
          <a:xfrm xmlns:a="http://schemas.openxmlformats.org/drawingml/2006/main">
            <a:off x="4781550" y="2095500"/>
            <a:ext cx="171450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0" name="">
            <a:extLst xmlns:a="http://schemas.openxmlformats.org/drawingml/2006/main">
              <a:ext uri="{FF2B5EF4-FFF2-40B4-BE49-F238E27FC236}">
                <a16:creationId xmlns:a16="http://schemas.microsoft.com/office/drawing/2014/main" id="{9D0861A1-49FD-47E4-9B78-15855286B811}"/>
              </a:ext>
            </a:extLst>
          </p:cNvPr>
          <p:cNvSpPr>
            <a:spLocks xmlns:a="http://schemas.openxmlformats.org/drawingml/2006/main" noGrp="1"/>
          </p:cNvSpPr>
          <p:nvPr/>
        </p:nvSpPr>
        <p:spPr>
          <a:xfrm xmlns:a="http://schemas.openxmlformats.org/drawingml/2006/main">
            <a:off x="4876800" y="21907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Services</a:t>
            </a:r>
          </a:p>
        </p:txBody>
      </p:sp>
      <p:sp>
        <p:nvSpPr>
          <p:cNvPr id="11" name="">
            <a:extLst xmlns:a="http://schemas.openxmlformats.org/drawingml/2006/main">
              <a:ext uri="{FF2B5EF4-FFF2-40B4-BE49-F238E27FC236}">
                <a16:creationId xmlns:a16="http://schemas.microsoft.com/office/drawing/2014/main" id="{D47D55D5-CA83-4541-AA4C-F212B7DDB4B8}"/>
              </a:ext>
            </a:extLst>
          </p:cNvPr>
          <p:cNvSpPr>
            <a:spLocks xmlns:a="http://schemas.openxmlformats.org/drawingml/2006/main" noGrp="1"/>
          </p:cNvSpPr>
          <p:nvPr/>
        </p:nvSpPr>
        <p:spPr>
          <a:xfrm xmlns:a="http://schemas.openxmlformats.org/drawingml/2006/main">
            <a:off x="6800850" y="2095500"/>
            <a:ext cx="1524000" cy="704850"/>
          </a:xfrm>
          <a:prstGeom xmlns:a="http://schemas.openxmlformats.org/drawingml/2006/main" prst="roundRect">
            <a:avLst>
              <a:gd name="adj" fmla="val 10811"/>
            </a:avLst>
          </a:prstGeom>
          <a:solidFill xmlns:a="http://schemas.openxmlformats.org/drawingml/2006/main">
            <a:srgbClr val="4DD4AC"/>
          </a:solidFill>
          <a:ln xmlns:a="http://schemas.openxmlformats.org/drawingml/2006/main" w="0">
            <a:solidFill>
              <a:srgbClr val="4DD4AC"/>
            </a:solidFill>
          </a:ln>
        </p:spPr>
      </p:sp>
      <p:sp>
        <p:nvSpPr>
          <p:cNvPr id="12" name="">
            <a:extLst xmlns:a="http://schemas.openxmlformats.org/drawingml/2006/main">
              <a:ext uri="{FF2B5EF4-FFF2-40B4-BE49-F238E27FC236}">
                <a16:creationId xmlns:a16="http://schemas.microsoft.com/office/drawing/2014/main" id="{00117973-A5CE-4D80-ABFD-17EE0C440E28}"/>
              </a:ext>
            </a:extLst>
          </p:cNvPr>
          <p:cNvSpPr>
            <a:spLocks xmlns:a="http://schemas.openxmlformats.org/drawingml/2006/main" noGrp="1"/>
          </p:cNvSpPr>
          <p:nvPr/>
        </p:nvSpPr>
        <p:spPr>
          <a:xfrm xmlns:a="http://schemas.openxmlformats.org/drawingml/2006/main">
            <a:off x="6896100" y="2190750"/>
            <a:ext cx="133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EF Core</a:t>
            </a:r>
          </a:p>
        </p:txBody>
      </p:sp>
      <p:cxnSp>
        <p:nvCxnSpPr>
          <p:cNvPr id="34" name=""/>
          <p:cNvCxnSpPr>
            <a:stCxn xmlns:a="http://schemas.openxmlformats.org/drawingml/2006/main" id="5" idx="3"/>
            <a:endCxn xmlns:a="http://schemas.openxmlformats.org/drawingml/2006/main" id="7" idx="1"/>
          </p:cNvCxnSpPr>
          <p:nvPr/>
        </p:nvCxnSpPr>
        <p:spPr>
          <a:xfrm xmlns:a="http://schemas.openxmlformats.org/drawingml/2006/main">
            <a:off x="2266950" y="2447925"/>
            <a:ext cx="3048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35" name=""/>
          <p:cNvCxnSpPr>
            <a:stCxn xmlns:a="http://schemas.openxmlformats.org/drawingml/2006/main" id="7" idx="3"/>
            <a:endCxn xmlns:a="http://schemas.openxmlformats.org/drawingml/2006/main" id="9" idx="1"/>
          </p:cNvCxnSpPr>
          <p:nvPr/>
        </p:nvCxnSpPr>
        <p:spPr>
          <a:xfrm xmlns:a="http://schemas.openxmlformats.org/drawingml/2006/main">
            <a:off x="4476750" y="2447925"/>
            <a:ext cx="3048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36" name=""/>
          <p:cNvCxnSpPr>
            <a:stCxn xmlns:a="http://schemas.openxmlformats.org/drawingml/2006/main" id="9" idx="3"/>
            <a:endCxn xmlns:a="http://schemas.openxmlformats.org/drawingml/2006/main" id="11" idx="1"/>
          </p:cNvCxnSpPr>
          <p:nvPr/>
        </p:nvCxnSpPr>
        <p:spPr>
          <a:xfrm xmlns:a="http://schemas.openxmlformats.org/drawingml/2006/main">
            <a:off x="6496050" y="2447925"/>
            <a:ext cx="3048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EA00667F-0C39-464C-B5F8-BC5336BE2FE2}"/>
              </a:ext>
            </a:extLst>
          </p:cNvPr>
          <p:cNvSpPr>
            <a:spLocks xmlns:a="http://schemas.openxmlformats.org/drawingml/2006/main" noGrp="1"/>
          </p:cNvSpPr>
          <p:nvPr/>
        </p:nvSpPr>
        <p:spPr>
          <a:xfrm xmlns:a="http://schemas.openxmlformats.org/drawingml/2006/main">
            <a:off x="552450" y="3143250"/>
            <a:ext cx="777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F8FAFC"/>
                </a:solidFill>
                <a:latin typeface="Arial"/>
                <a:ea typeface="Arial"/>
                <a:cs typeface="Arial"/>
              </a:defRPr>
            </a:pPr>
            <a:r>
              <a:rPr sz="1575" b="0">
                <a:solidFill>
                  <a:srgbClr val="F8FAFC"/>
                </a:solidFill>
                <a:latin typeface="Arial"/>
                <a:ea typeface="Arial"/>
                <a:cs typeface="Arial"/>
              </a:rPr>
              <a:t>DTOs and FluentValidation control input and output at the API boundary.</a:t>
            </a:r>
          </a:p>
        </p:txBody>
      </p:sp>
      <p:sp>
        <p:nvSpPr>
          <p:cNvPr id="17" name="">
            <a:extLst xmlns:a="http://schemas.openxmlformats.org/drawingml/2006/main">
              <a:ext uri="{FF2B5EF4-FFF2-40B4-BE49-F238E27FC236}">
                <a16:creationId xmlns:a16="http://schemas.microsoft.com/office/drawing/2014/main" id="{966E3FA0-600B-4364-B4BB-B62904CA071C}"/>
              </a:ext>
            </a:extLst>
          </p:cNvPr>
          <p:cNvSpPr>
            <a:spLocks xmlns:a="http://schemas.openxmlformats.org/drawingml/2006/main" noGrp="1"/>
          </p:cNvSpPr>
          <p:nvPr/>
        </p:nvSpPr>
        <p:spPr>
          <a:xfrm xmlns:a="http://schemas.openxmlformats.org/drawingml/2006/main">
            <a:off x="552450" y="3962400"/>
            <a:ext cx="7572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AFC1D6"/>
                </a:solidFill>
                <a:latin typeface="Arial"/>
                <a:ea typeface="Arial"/>
                <a:cs typeface="Arial"/>
              </a:defRPr>
            </a:pPr>
            <a:r>
              <a:rPr sz="1500">
                <a:solidFill>
                  <a:srgbClr val="AFC1D6"/>
                </a:solidFill>
                <a:latin typeface="Arial"/>
                <a:ea typeface="Arial"/>
                <a:cs typeface="Arial"/>
              </a:rPr>
              <a:t>OrganizationId scopes users and project data</a:t>
            </a:r>
          </a:p>
          <a:p xmlns:a="http://schemas.openxmlformats.org/drawingml/2006/main">
            <a:pPr marL="228600" indent="-114300">
              <a:spcAft>
                <a:spcPts val="1000"/>
              </a:spcAft>
              <a:buChar char="•"/>
              <a:defRPr sz="1500">
                <a:solidFill>
                  <a:srgbClr val="AFC1D6"/>
                </a:solidFill>
                <a:latin typeface="Arial"/>
                <a:ea typeface="Arial"/>
                <a:cs typeface="Arial"/>
              </a:defRPr>
            </a:pPr>
            <a:r>
              <a:rPr sz="1500">
                <a:solidFill>
                  <a:srgbClr val="AFC1D6"/>
                </a:solidFill>
                <a:latin typeface="Arial"/>
                <a:ea typeface="Arial"/>
                <a:cs typeface="Arial"/>
              </a:rPr>
              <a:t>ASP.NET Core Identity provides roles and JWT authentication</a:t>
            </a:r>
          </a:p>
          <a:p xmlns:a="http://schemas.openxmlformats.org/drawingml/2006/main">
            <a:pPr marL="228600" indent="-114300">
              <a:spcAft>
                <a:spcPts val="1000"/>
              </a:spcAft>
              <a:buChar char="•"/>
              <a:defRPr sz="1500">
                <a:solidFill>
                  <a:srgbClr val="AFC1D6"/>
                </a:solidFill>
                <a:latin typeface="Arial"/>
                <a:ea typeface="Arial"/>
                <a:cs typeface="Arial"/>
              </a:defRPr>
            </a:pPr>
            <a:r>
              <a:rPr sz="1500">
                <a:solidFill>
                  <a:srgbClr val="AFC1D6"/>
                </a:solidFill>
                <a:latin typeface="Arial"/>
                <a:ea typeface="Arial"/>
                <a:cs typeface="Arial"/>
              </a:rPr>
              <a:t>Base entities support audit fields and soft deletion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da6d1829a4548d3"/>
          <a:stretch xmlns:a="http://schemas.openxmlformats.org/drawingml/2006/main"/>
        </p:blipFill>
        <p:spPr>
          <a:xfrm xmlns:a="http://schemas.openxmlformats.org/drawingml/2006/main">
            <a:off x="8572500" y="2799917"/>
            <a:ext cx="3048000" cy="1924916"/>
          </a:xfrm>
          <a:prstGeom xmlns:a="http://schemas.openxmlformats.org/drawingml/2006/main" prst="roundRect">
            <a:avLst>
              <a:gd name="adj" fmla="val 3750"/>
            </a:avLst>
          </a:prstGeom>
        </p:spPr>
      </p:pic>
      <p:sp>
        <p:nvSpPr>
          <p:cNvPr id="19" name="">
            <a:extLst xmlns:a="http://schemas.openxmlformats.org/drawingml/2006/main">
              <a:ext uri="{FF2B5EF4-FFF2-40B4-BE49-F238E27FC236}">
                <a16:creationId xmlns:a16="http://schemas.microsoft.com/office/drawing/2014/main" id="{5CAB0973-DB64-4802-85E9-1A574B6CA681}"/>
              </a:ext>
            </a:extLst>
          </p:cNvPr>
          <p:cNvSpPr>
            <a:spLocks xmlns:a="http://schemas.openxmlformats.org/drawingml/2006/main" noGrp="1"/>
          </p:cNvSpPr>
          <p:nvPr/>
        </p:nvSpPr>
        <p:spPr>
          <a:xfrm xmlns:a="http://schemas.openxmlformats.org/drawingml/2006/main">
            <a:off x="9277350" y="57626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29C5F6"/>
                </a:solidFill>
                <a:latin typeface="Arial"/>
                <a:ea typeface="Arial"/>
                <a:cs typeface="Arial"/>
              </a:defRPr>
            </a:pPr>
            <a:r>
              <a:rPr sz="1275" b="1">
                <a:solidFill>
                  <a:srgbClr val="29C5F6"/>
                </a:solidFill>
                <a:latin typeface="Arial"/>
                <a:ea typeface="Arial"/>
                <a:cs typeface="Arial"/>
              </a:rPr>
              <a:t>Current ERD</a:t>
            </a:r>
          </a:p>
        </p:txBody>
      </p:sp>
      <p:sp>
        <p:nvSpPr>
          <p:cNvPr id="20" name="">
            <a:extLst xmlns:a="http://schemas.openxmlformats.org/drawingml/2006/main">
              <a:ext uri="{FF2B5EF4-FFF2-40B4-BE49-F238E27FC236}">
                <a16:creationId xmlns:a16="http://schemas.microsoft.com/office/drawing/2014/main" id="{C04D4947-598C-404D-A535-645DF8F8D2BE}"/>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Key files: Program.cs, Models, ScaleFlowDbContext.cs</a:t>
            </a:r>
          </a:p>
        </p:txBody>
      </p:sp>
      <p:sp>
        <p:nvSpPr>
          <p:cNvPr id="21" name="">
            <a:extLst xmlns:a="http://schemas.openxmlformats.org/drawingml/2006/main">
              <a:ext uri="{FF2B5EF4-FFF2-40B4-BE49-F238E27FC236}">
                <a16:creationId xmlns:a16="http://schemas.microsoft.com/office/drawing/2014/main" id="{E1C015DB-2794-498C-93E3-A90CEE15D628}"/>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1041328010"/>
      </p:ext>
    </p:extLst>
  </p:cSld>
</p:sld>
</file>

<file path=ppt/slides/slide4.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A66ABE7-9894-4463-ACC4-F98186BD2E3A}"/>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3D5DC34E-2BBB-4313-89B6-2F3ED722D92F}"/>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Database and core APIs</a:t>
            </a:r>
          </a:p>
        </p:txBody>
      </p:sp>
      <p:sp>
        <p:nvSpPr>
          <p:cNvPr id="3" name="">
            <a:extLst xmlns:a="http://schemas.openxmlformats.org/drawingml/2006/main">
              <a:ext uri="{FF2B5EF4-FFF2-40B4-BE49-F238E27FC236}">
                <a16:creationId xmlns:a16="http://schemas.microsoft.com/office/drawing/2014/main" id="{26D3F917-B9BE-420C-855B-B9031C1F41D4}"/>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Projects and tasks use DTOs, validation, and one response format</a:t>
            </a:r>
          </a:p>
        </p:txBody>
      </p:sp>
      <p:sp>
        <p:nvSpPr>
          <p:cNvPr id="4" name="">
            <a:extLst xmlns:a="http://schemas.openxmlformats.org/drawingml/2006/main">
              <a:ext uri="{FF2B5EF4-FFF2-40B4-BE49-F238E27FC236}">
                <a16:creationId xmlns:a16="http://schemas.microsoft.com/office/drawing/2014/main" id="{211470B0-3398-4C04-A2C2-7D247B753B5A}"/>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445F99-333A-4DEA-9418-8F984393F515}"/>
              </a:ext>
            </a:extLst>
          </p:cNvPr>
          <p:cNvSpPr>
            <a:spLocks xmlns:a="http://schemas.openxmlformats.org/drawingml/2006/main" noGrp="1"/>
          </p:cNvSpPr>
          <p:nvPr/>
        </p:nvSpPr>
        <p:spPr>
          <a:xfrm xmlns:a="http://schemas.openxmlformats.org/drawingml/2006/main">
            <a:off x="552450" y="1952625"/>
            <a:ext cx="3381375"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B09947-F314-4653-9638-C91817EDF75D}"/>
              </a:ext>
            </a:extLst>
          </p:cNvPr>
          <p:cNvSpPr>
            <a:spLocks xmlns:a="http://schemas.openxmlformats.org/drawingml/2006/main" noGrp="1"/>
          </p:cNvSpPr>
          <p:nvPr/>
        </p:nvSpPr>
        <p:spPr>
          <a:xfrm xmlns:a="http://schemas.openxmlformats.org/drawingml/2006/main">
            <a:off x="552450" y="1952625"/>
            <a:ext cx="66675" cy="2476500"/>
          </a:xfrm>
          <a:prstGeom xmlns:a="http://schemas.openxmlformats.org/drawingml/2006/main" prst="roundRect">
            <a:avLst>
              <a:gd name="adj" fmla="val 50000"/>
            </a:avLst>
          </a:prstGeom>
          <a:solidFill xmlns:a="http://schemas.openxmlformats.org/drawingml/2006/main">
            <a:srgbClr val="29C5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9B5785-B0DC-47F5-BE3B-485CF8023020}"/>
              </a:ext>
            </a:extLst>
          </p:cNvPr>
          <p:cNvSpPr>
            <a:spLocks xmlns:a="http://schemas.openxmlformats.org/drawingml/2006/main" noGrp="1"/>
          </p:cNvSpPr>
          <p:nvPr/>
        </p:nvSpPr>
        <p:spPr>
          <a:xfrm xmlns:a="http://schemas.openxmlformats.org/drawingml/2006/main">
            <a:off x="781050" y="2124075"/>
            <a:ext cx="2981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B132B"/>
                </a:solidFill>
                <a:latin typeface="Arial"/>
                <a:ea typeface="Arial"/>
                <a:cs typeface="Arial"/>
              </a:defRPr>
            </a:pPr>
            <a:r>
              <a:rPr sz="1575" b="1">
                <a:solidFill>
                  <a:srgbClr val="0B132B"/>
                </a:solidFill>
                <a:latin typeface="Arial"/>
                <a:ea typeface="Arial"/>
                <a:cs typeface="Arial"/>
              </a:rPr>
              <a:t>Project APIs</a:t>
            </a:r>
          </a:p>
        </p:txBody>
      </p:sp>
      <p:sp>
        <p:nvSpPr>
          <p:cNvPr id="8" name="">
            <a:extLst xmlns:a="http://schemas.openxmlformats.org/drawingml/2006/main">
              <a:ext uri="{FF2B5EF4-FFF2-40B4-BE49-F238E27FC236}">
                <a16:creationId xmlns:a16="http://schemas.microsoft.com/office/drawing/2014/main" id="{EE0EE7E9-C3DC-49E7-B6C6-B51FE747840A}"/>
              </a:ext>
            </a:extLst>
          </p:cNvPr>
          <p:cNvSpPr>
            <a:spLocks xmlns:a="http://schemas.openxmlformats.org/drawingml/2006/main" noGrp="1"/>
          </p:cNvSpPr>
          <p:nvPr/>
        </p:nvSpPr>
        <p:spPr>
          <a:xfrm xmlns:a="http://schemas.openxmlformats.org/drawingml/2006/main">
            <a:off x="781050" y="2505075"/>
            <a:ext cx="29813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List, get, create, update, and soft delete accessible projects.</a:t>
            </a:r>
          </a:p>
        </p:txBody>
      </p:sp>
      <p:sp>
        <p:nvSpPr>
          <p:cNvPr id="9" name="">
            <a:extLst xmlns:a="http://schemas.openxmlformats.org/drawingml/2006/main">
              <a:ext uri="{FF2B5EF4-FFF2-40B4-BE49-F238E27FC236}">
                <a16:creationId xmlns:a16="http://schemas.microsoft.com/office/drawing/2014/main" id="{C3B092FF-ED3C-40C3-9B92-A5C2E8608B37}"/>
              </a:ext>
            </a:extLst>
          </p:cNvPr>
          <p:cNvSpPr>
            <a:spLocks xmlns:a="http://schemas.openxmlformats.org/drawingml/2006/main" noGrp="1"/>
          </p:cNvSpPr>
          <p:nvPr/>
        </p:nvSpPr>
        <p:spPr>
          <a:xfrm xmlns:a="http://schemas.openxmlformats.org/drawingml/2006/main">
            <a:off x="4400550" y="1952625"/>
            <a:ext cx="3381375"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2BF10A-A000-43FA-B27F-B51174F8357F}"/>
              </a:ext>
            </a:extLst>
          </p:cNvPr>
          <p:cNvSpPr>
            <a:spLocks xmlns:a="http://schemas.openxmlformats.org/drawingml/2006/main" noGrp="1"/>
          </p:cNvSpPr>
          <p:nvPr/>
        </p:nvSpPr>
        <p:spPr>
          <a:xfrm xmlns:a="http://schemas.openxmlformats.org/drawingml/2006/main">
            <a:off x="4400550" y="1952625"/>
            <a:ext cx="66675" cy="2476500"/>
          </a:xfrm>
          <a:prstGeom xmlns:a="http://schemas.openxmlformats.org/drawingml/2006/main" prst="roundRect">
            <a:avLst>
              <a:gd name="adj" fmla="val 50000"/>
            </a:avLst>
          </a:prstGeom>
          <a:solidFill xmlns:a="http://schemas.openxmlformats.org/drawingml/2006/main">
            <a:srgbClr val="4DD4A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3473B0-025D-49F7-ACAE-09C05A1480CE}"/>
              </a:ext>
            </a:extLst>
          </p:cNvPr>
          <p:cNvSpPr>
            <a:spLocks xmlns:a="http://schemas.openxmlformats.org/drawingml/2006/main" noGrp="1"/>
          </p:cNvSpPr>
          <p:nvPr/>
        </p:nvSpPr>
        <p:spPr>
          <a:xfrm xmlns:a="http://schemas.openxmlformats.org/drawingml/2006/main">
            <a:off x="4629150" y="2124075"/>
            <a:ext cx="2981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B132B"/>
                </a:solidFill>
                <a:latin typeface="Arial"/>
                <a:ea typeface="Arial"/>
                <a:cs typeface="Arial"/>
              </a:defRPr>
            </a:pPr>
            <a:r>
              <a:rPr sz="1575" b="1">
                <a:solidFill>
                  <a:srgbClr val="0B132B"/>
                </a:solidFill>
                <a:latin typeface="Arial"/>
                <a:ea typeface="Arial"/>
                <a:cs typeface="Arial"/>
              </a:rPr>
              <a:t>Task APIs</a:t>
            </a:r>
          </a:p>
        </p:txBody>
      </p:sp>
      <p:sp>
        <p:nvSpPr>
          <p:cNvPr id="12" name="">
            <a:extLst xmlns:a="http://schemas.openxmlformats.org/drawingml/2006/main">
              <a:ext uri="{FF2B5EF4-FFF2-40B4-BE49-F238E27FC236}">
                <a16:creationId xmlns:a16="http://schemas.microsoft.com/office/drawing/2014/main" id="{DA6B067B-5D67-4ADC-A0A9-D0CFAC08FB1A}"/>
              </a:ext>
            </a:extLst>
          </p:cNvPr>
          <p:cNvSpPr>
            <a:spLocks xmlns:a="http://schemas.openxmlformats.org/drawingml/2006/main" noGrp="1"/>
          </p:cNvSpPr>
          <p:nvPr/>
        </p:nvSpPr>
        <p:spPr>
          <a:xfrm xmlns:a="http://schemas.openxmlformats.org/drawingml/2006/main">
            <a:off x="4629150" y="2505075"/>
            <a:ext cx="29813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CRUD inside a project, plus task status history when status changes.</a:t>
            </a:r>
          </a:p>
        </p:txBody>
      </p:sp>
      <p:sp>
        <p:nvSpPr>
          <p:cNvPr id="13" name="">
            <a:extLst xmlns:a="http://schemas.openxmlformats.org/drawingml/2006/main">
              <a:ext uri="{FF2B5EF4-FFF2-40B4-BE49-F238E27FC236}">
                <a16:creationId xmlns:a16="http://schemas.microsoft.com/office/drawing/2014/main" id="{DEE89510-BC13-4FCE-B55A-C7442FECB936}"/>
              </a:ext>
            </a:extLst>
          </p:cNvPr>
          <p:cNvSpPr>
            <a:spLocks xmlns:a="http://schemas.openxmlformats.org/drawingml/2006/main" noGrp="1"/>
          </p:cNvSpPr>
          <p:nvPr/>
        </p:nvSpPr>
        <p:spPr>
          <a:xfrm xmlns:a="http://schemas.openxmlformats.org/drawingml/2006/main">
            <a:off x="8248650" y="1952625"/>
            <a:ext cx="3381375" cy="2476500"/>
          </a:xfrm>
          <a:prstGeom xmlns:a="http://schemas.openxmlformats.org/drawingml/2006/main" prst="roundRect">
            <a:avLst>
              <a:gd name="adj" fmla="val 3077"/>
            </a:avLst>
          </a:prstGeom>
          <a:solidFill xmlns:a="http://schemas.openxmlformats.org/drawingml/2006/main">
            <a:srgbClr val="F8FAF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0410063-DD0D-480D-8052-6E433D6FC7BA}"/>
              </a:ext>
            </a:extLst>
          </p:cNvPr>
          <p:cNvSpPr>
            <a:spLocks xmlns:a="http://schemas.openxmlformats.org/drawingml/2006/main" noGrp="1"/>
          </p:cNvSpPr>
          <p:nvPr/>
        </p:nvSpPr>
        <p:spPr>
          <a:xfrm xmlns:a="http://schemas.openxmlformats.org/drawingml/2006/main">
            <a:off x="8248650" y="1952625"/>
            <a:ext cx="66675" cy="2476500"/>
          </a:xfrm>
          <a:prstGeom xmlns:a="http://schemas.openxmlformats.org/drawingml/2006/main" prst="roundRect">
            <a:avLst>
              <a:gd name="adj" fmla="val 50000"/>
            </a:avLst>
          </a:prstGeom>
          <a:solidFill xmlns:a="http://schemas.openxmlformats.org/drawingml/2006/main">
            <a:srgbClr val="FFB25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14324B-B1F1-40A4-84B6-A0FD4F040C7C}"/>
              </a:ext>
            </a:extLst>
          </p:cNvPr>
          <p:cNvSpPr>
            <a:spLocks xmlns:a="http://schemas.openxmlformats.org/drawingml/2006/main" noGrp="1"/>
          </p:cNvSpPr>
          <p:nvPr/>
        </p:nvSpPr>
        <p:spPr>
          <a:xfrm xmlns:a="http://schemas.openxmlformats.org/drawingml/2006/main">
            <a:off x="8477250" y="2124075"/>
            <a:ext cx="2981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0B132B"/>
                </a:solidFill>
                <a:latin typeface="Arial"/>
                <a:ea typeface="Arial"/>
                <a:cs typeface="Arial"/>
              </a:defRPr>
            </a:pPr>
            <a:r>
              <a:rPr sz="1575" b="1">
                <a:solidFill>
                  <a:srgbClr val="0B132B"/>
                </a:solidFill>
                <a:latin typeface="Arial"/>
                <a:ea typeface="Arial"/>
                <a:cs typeface="Arial"/>
              </a:rPr>
              <a:t>Request safety</a:t>
            </a:r>
          </a:p>
        </p:txBody>
      </p:sp>
      <p:sp>
        <p:nvSpPr>
          <p:cNvPr id="16" name="">
            <a:extLst xmlns:a="http://schemas.openxmlformats.org/drawingml/2006/main">
              <a:ext uri="{FF2B5EF4-FFF2-40B4-BE49-F238E27FC236}">
                <a16:creationId xmlns:a16="http://schemas.microsoft.com/office/drawing/2014/main" id="{4F3285B2-B864-42A2-9039-1F19C75C0C1B}"/>
              </a:ext>
            </a:extLst>
          </p:cNvPr>
          <p:cNvSpPr>
            <a:spLocks xmlns:a="http://schemas.openxmlformats.org/drawingml/2006/main" noGrp="1"/>
          </p:cNvSpPr>
          <p:nvPr/>
        </p:nvSpPr>
        <p:spPr>
          <a:xfrm xmlns:a="http://schemas.openxmlformats.org/drawingml/2006/main">
            <a:off x="8477250" y="2505075"/>
            <a:ext cx="29813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4748B"/>
                </a:solidFill>
                <a:latin typeface="Arial"/>
                <a:ea typeface="Arial"/>
                <a:cs typeface="Arial"/>
              </a:defRPr>
            </a:pPr>
            <a:r>
              <a:rPr sz="1275" b="0">
                <a:solidFill>
                  <a:srgbClr val="64748B"/>
                </a:solidFill>
                <a:latin typeface="Arial"/>
                <a:ea typeface="Arial"/>
                <a:cs typeface="Arial"/>
              </a:rPr>
              <a:t>FluentValidation checks names, dates, enum values, hours, budgets, and pagination.</a:t>
            </a:r>
          </a:p>
        </p:txBody>
      </p:sp>
      <p:sp>
        <p:nvSpPr>
          <p:cNvPr id="17" name="">
            <a:extLst xmlns:a="http://schemas.openxmlformats.org/drawingml/2006/main">
              <a:ext uri="{FF2B5EF4-FFF2-40B4-BE49-F238E27FC236}">
                <a16:creationId xmlns:a16="http://schemas.microsoft.com/office/drawing/2014/main" id="{16811418-CA2A-4F4E-9810-316F34BA106D}"/>
              </a:ext>
            </a:extLst>
          </p:cNvPr>
          <p:cNvSpPr>
            <a:spLocks xmlns:a="http://schemas.openxmlformats.org/drawingml/2006/main" noGrp="1"/>
          </p:cNvSpPr>
          <p:nvPr/>
        </p:nvSpPr>
        <p:spPr>
          <a:xfrm xmlns:a="http://schemas.openxmlformats.org/drawingml/2006/main">
            <a:off x="552450" y="4905375"/>
            <a:ext cx="11077575" cy="19050"/>
          </a:xfrm>
          <a:prstGeom xmlns:a="http://schemas.openxmlformats.org/drawingml/2006/main" prst="rect">
            <a:avLst/>
          </a:prstGeom>
          <a:solidFill xmlns:a="http://schemas.openxmlformats.org/drawingml/2006/main">
            <a:srgbClr val="D7E2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5816C33-C483-4381-938A-74C9AB903799}"/>
              </a:ext>
            </a:extLst>
          </p:cNvPr>
          <p:cNvSpPr>
            <a:spLocks xmlns:a="http://schemas.openxmlformats.org/drawingml/2006/main" noGrp="1"/>
          </p:cNvSpPr>
          <p:nvPr/>
        </p:nvSpPr>
        <p:spPr>
          <a:xfrm xmlns:a="http://schemas.openxmlformats.org/drawingml/2006/main">
            <a:off x="552450" y="51435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8FAFC"/>
                </a:solidFill>
                <a:latin typeface="Arial"/>
                <a:ea typeface="Arial"/>
                <a:cs typeface="Arial"/>
              </a:defRPr>
            </a:pPr>
            <a:r>
              <a:rPr sz="1500" b="1">
                <a:solidFill>
                  <a:srgbClr val="F8FAFC"/>
                </a:solidFill>
                <a:latin typeface="Arial"/>
                <a:ea typeface="Arial"/>
                <a:cs typeface="Arial"/>
              </a:rPr>
              <a:t>Unified API response</a:t>
            </a:r>
          </a:p>
        </p:txBody>
      </p:sp>
      <p:sp>
        <p:nvSpPr>
          <p:cNvPr id="19" name="">
            <a:extLst xmlns:a="http://schemas.openxmlformats.org/drawingml/2006/main">
              <a:ext uri="{FF2B5EF4-FFF2-40B4-BE49-F238E27FC236}">
                <a16:creationId xmlns:a16="http://schemas.microsoft.com/office/drawing/2014/main" id="{CB60C022-1E71-4BDA-8F11-0918547AD5CB}"/>
              </a:ext>
            </a:extLst>
          </p:cNvPr>
          <p:cNvSpPr>
            <a:spLocks xmlns:a="http://schemas.openxmlformats.org/drawingml/2006/main" noGrp="1"/>
          </p:cNvSpPr>
          <p:nvPr/>
        </p:nvSpPr>
        <p:spPr>
          <a:xfrm xmlns:a="http://schemas.openxmlformats.org/drawingml/2006/main">
            <a:off x="3333750" y="51435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29C5F6"/>
                </a:solidFill>
                <a:latin typeface="Arial"/>
                <a:ea typeface="Arial"/>
                <a:cs typeface="Arial"/>
              </a:defRPr>
            </a:pPr>
            <a:r>
              <a:rPr sz="1500" b="1">
                <a:solidFill>
                  <a:srgbClr val="29C5F6"/>
                </a:solidFill>
                <a:latin typeface="Arial"/>
                <a:ea typeface="Arial"/>
                <a:cs typeface="Arial"/>
              </a:rPr>
              <a:t>Success  •  Message  •  Data  •  Errors</a:t>
            </a:r>
          </a:p>
        </p:txBody>
      </p:sp>
      <p:sp>
        <p:nvSpPr>
          <p:cNvPr id="20" name="">
            <a:extLst xmlns:a="http://schemas.openxmlformats.org/drawingml/2006/main">
              <a:ext uri="{FF2B5EF4-FFF2-40B4-BE49-F238E27FC236}">
                <a16:creationId xmlns:a16="http://schemas.microsoft.com/office/drawing/2014/main" id="{7742EE8C-7584-4657-9B65-1FBFE801CB29}"/>
              </a:ext>
            </a:extLst>
          </p:cNvPr>
          <p:cNvSpPr>
            <a:spLocks xmlns:a="http://schemas.openxmlformats.org/drawingml/2006/main" noGrp="1"/>
          </p:cNvSpPr>
          <p:nvPr/>
        </p:nvSpPr>
        <p:spPr>
          <a:xfrm xmlns:a="http://schemas.openxmlformats.org/drawingml/2006/main">
            <a:off x="552450" y="563880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AFC1D6"/>
                </a:solidFill>
                <a:latin typeface="Arial"/>
                <a:ea typeface="Arial"/>
                <a:cs typeface="Arial"/>
              </a:defRPr>
            </a:pPr>
            <a:r>
              <a:rPr sz="1425" b="0">
                <a:solidFill>
                  <a:srgbClr val="AFC1D6"/>
                </a:solidFill>
                <a:latin typeface="Arial"/>
                <a:ea typeface="Arial"/>
                <a:cs typeface="Arial"/>
              </a:rPr>
              <a:t>ApiExceptionMiddleware converts business errors into consistent HTTP responses.</a:t>
            </a:r>
          </a:p>
        </p:txBody>
      </p:sp>
      <p:sp>
        <p:nvSpPr>
          <p:cNvPr id="21" name="">
            <a:extLst xmlns:a="http://schemas.openxmlformats.org/drawingml/2006/main">
              <a:ext uri="{FF2B5EF4-FFF2-40B4-BE49-F238E27FC236}">
                <a16:creationId xmlns:a16="http://schemas.microsoft.com/office/drawing/2014/main" id="{C7989870-BFB8-45CF-BA57-3DDCC9C4649C}"/>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Current database: 2 migrations, 31 tables, 5 check constraints</a:t>
            </a:r>
          </a:p>
        </p:txBody>
      </p:sp>
      <p:sp>
        <p:nvSpPr>
          <p:cNvPr id="22" name="">
            <a:extLst xmlns:a="http://schemas.openxmlformats.org/drawingml/2006/main">
              <a:ext uri="{FF2B5EF4-FFF2-40B4-BE49-F238E27FC236}">
                <a16:creationId xmlns:a16="http://schemas.microsoft.com/office/drawing/2014/main" id="{D5670145-7194-4466-98E0-7F4CFD61725A}"/>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404733180"/>
      </p:ext>
    </p:extLst>
  </p:cSld>
</p:sld>
</file>

<file path=ppt/slides/slide5.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138C14A-36B3-4B53-B89C-8B5F7205DA86}"/>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0993BF88-A6F5-42E0-984A-D2C1FFFACB50}"/>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Task dependency management</a:t>
            </a:r>
          </a:p>
        </p:txBody>
      </p:sp>
      <p:sp>
        <p:nvSpPr>
          <p:cNvPr id="3" name="">
            <a:extLst xmlns:a="http://schemas.openxmlformats.org/drawingml/2006/main">
              <a:ext uri="{FF2B5EF4-FFF2-40B4-BE49-F238E27FC236}">
                <a16:creationId xmlns:a16="http://schemas.microsoft.com/office/drawing/2014/main" id="{68651C47-9929-463F-B2C1-1B6645EAAD92}"/>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Graph validation protects project schedules from invalid relationships</a:t>
            </a:r>
          </a:p>
        </p:txBody>
      </p:sp>
      <p:sp>
        <p:nvSpPr>
          <p:cNvPr id="4" name="">
            <a:extLst xmlns:a="http://schemas.openxmlformats.org/drawingml/2006/main">
              <a:ext uri="{FF2B5EF4-FFF2-40B4-BE49-F238E27FC236}">
                <a16:creationId xmlns:a16="http://schemas.microsoft.com/office/drawing/2014/main" id="{AF2ECFD6-71D1-4AF5-80A3-BA8AE20F3E41}"/>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85B08F-4002-4035-8329-4F2769E55CFD}"/>
              </a:ext>
            </a:extLst>
          </p:cNvPr>
          <p:cNvSpPr>
            <a:spLocks xmlns:a="http://schemas.openxmlformats.org/drawingml/2006/main" noGrp="1"/>
          </p:cNvSpPr>
          <p:nvPr/>
        </p:nvSpPr>
        <p:spPr>
          <a:xfrm xmlns:a="http://schemas.openxmlformats.org/drawingml/2006/main">
            <a:off x="590550" y="2152650"/>
            <a:ext cx="1809750" cy="704850"/>
          </a:xfrm>
          <a:prstGeom xmlns:a="http://schemas.openxmlformats.org/drawingml/2006/main" prst="roundRect">
            <a:avLst>
              <a:gd name="adj" fmla="val 10811"/>
            </a:avLst>
          </a:prstGeom>
          <a:solidFill xmlns:a="http://schemas.openxmlformats.org/drawingml/2006/main">
            <a:srgbClr val="29C5F6"/>
          </a:solidFill>
          <a:ln xmlns:a="http://schemas.openxmlformats.org/drawingml/2006/main" w="0">
            <a:solidFill>
              <a:srgbClr val="29C5F6"/>
            </a:solidFill>
          </a:ln>
        </p:spPr>
      </p:sp>
      <p:sp>
        <p:nvSpPr>
          <p:cNvPr id="6" name="">
            <a:extLst xmlns:a="http://schemas.openxmlformats.org/drawingml/2006/main">
              <a:ext uri="{FF2B5EF4-FFF2-40B4-BE49-F238E27FC236}">
                <a16:creationId xmlns:a16="http://schemas.microsoft.com/office/drawing/2014/main" id="{21A211E4-1B86-44C5-A5EF-9B9FB5954FA9}"/>
              </a:ext>
            </a:extLst>
          </p:cNvPr>
          <p:cNvSpPr>
            <a:spLocks xmlns:a="http://schemas.openxmlformats.org/drawingml/2006/main" noGrp="1"/>
          </p:cNvSpPr>
          <p:nvPr/>
        </p:nvSpPr>
        <p:spPr>
          <a:xfrm xmlns:a="http://schemas.openxmlformats.org/drawingml/2006/main">
            <a:off x="685800" y="22479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Add or update</a:t>
            </a:r>
          </a:p>
        </p:txBody>
      </p:sp>
      <p:sp>
        <p:nvSpPr>
          <p:cNvPr id="7" name="">
            <a:extLst xmlns:a="http://schemas.openxmlformats.org/drawingml/2006/main">
              <a:ext uri="{FF2B5EF4-FFF2-40B4-BE49-F238E27FC236}">
                <a16:creationId xmlns:a16="http://schemas.microsoft.com/office/drawing/2014/main" id="{07E003C2-9C92-446F-825F-C4ED35AF9C3A}"/>
              </a:ext>
            </a:extLst>
          </p:cNvPr>
          <p:cNvSpPr>
            <a:spLocks xmlns:a="http://schemas.openxmlformats.org/drawingml/2006/main" noGrp="1"/>
          </p:cNvSpPr>
          <p:nvPr/>
        </p:nvSpPr>
        <p:spPr>
          <a:xfrm xmlns:a="http://schemas.openxmlformats.org/drawingml/2006/main">
            <a:off x="2762250" y="2152650"/>
            <a:ext cx="180975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8" name="">
            <a:extLst xmlns:a="http://schemas.openxmlformats.org/drawingml/2006/main">
              <a:ext uri="{FF2B5EF4-FFF2-40B4-BE49-F238E27FC236}">
                <a16:creationId xmlns:a16="http://schemas.microsoft.com/office/drawing/2014/main" id="{445E1527-AE32-4FB5-8102-510669C51A4B}"/>
              </a:ext>
            </a:extLst>
          </p:cNvPr>
          <p:cNvSpPr>
            <a:spLocks xmlns:a="http://schemas.openxmlformats.org/drawingml/2006/main" noGrp="1"/>
          </p:cNvSpPr>
          <p:nvPr/>
        </p:nvSpPr>
        <p:spPr>
          <a:xfrm xmlns:a="http://schemas.openxmlformats.org/drawingml/2006/main">
            <a:off x="2857500" y="22479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Validate tasks</a:t>
            </a:r>
          </a:p>
        </p:txBody>
      </p:sp>
      <p:sp>
        <p:nvSpPr>
          <p:cNvPr id="9" name="">
            <a:extLst xmlns:a="http://schemas.openxmlformats.org/drawingml/2006/main">
              <a:ext uri="{FF2B5EF4-FFF2-40B4-BE49-F238E27FC236}">
                <a16:creationId xmlns:a16="http://schemas.microsoft.com/office/drawing/2014/main" id="{81FDFEA9-564B-4488-A223-C8FD5C22A7A7}"/>
              </a:ext>
            </a:extLst>
          </p:cNvPr>
          <p:cNvSpPr>
            <a:spLocks xmlns:a="http://schemas.openxmlformats.org/drawingml/2006/main" noGrp="1"/>
          </p:cNvSpPr>
          <p:nvPr/>
        </p:nvSpPr>
        <p:spPr>
          <a:xfrm xmlns:a="http://schemas.openxmlformats.org/drawingml/2006/main">
            <a:off x="4933950" y="2152650"/>
            <a:ext cx="1809750" cy="704850"/>
          </a:xfrm>
          <a:prstGeom xmlns:a="http://schemas.openxmlformats.org/drawingml/2006/main" prst="roundRect">
            <a:avLst>
              <a:gd name="adj" fmla="val 10811"/>
            </a:avLst>
          </a:prstGeom>
          <a:solidFill xmlns:a="http://schemas.openxmlformats.org/drawingml/2006/main">
            <a:srgbClr val="FFB25B"/>
          </a:solidFill>
          <a:ln xmlns:a="http://schemas.openxmlformats.org/drawingml/2006/main" w="0">
            <a:solidFill>
              <a:srgbClr val="FFB25B"/>
            </a:solidFill>
          </a:ln>
        </p:spPr>
      </p:sp>
      <p:sp>
        <p:nvSpPr>
          <p:cNvPr id="10" name="">
            <a:extLst xmlns:a="http://schemas.openxmlformats.org/drawingml/2006/main">
              <a:ext uri="{FF2B5EF4-FFF2-40B4-BE49-F238E27FC236}">
                <a16:creationId xmlns:a16="http://schemas.microsoft.com/office/drawing/2014/main" id="{26C1FD36-33CF-454E-8A2C-975F6A46D0A8}"/>
              </a:ext>
            </a:extLst>
          </p:cNvPr>
          <p:cNvSpPr>
            <a:spLocks xmlns:a="http://schemas.openxmlformats.org/drawingml/2006/main" noGrp="1"/>
          </p:cNvSpPr>
          <p:nvPr/>
        </p:nvSpPr>
        <p:spPr>
          <a:xfrm xmlns:a="http://schemas.openxmlformats.org/drawingml/2006/main">
            <a:off x="5029200" y="224790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Check graph</a:t>
            </a:r>
          </a:p>
        </p:txBody>
      </p:sp>
      <p:sp>
        <p:nvSpPr>
          <p:cNvPr id="11" name="">
            <a:extLst xmlns:a="http://schemas.openxmlformats.org/drawingml/2006/main">
              <a:ext uri="{FF2B5EF4-FFF2-40B4-BE49-F238E27FC236}">
                <a16:creationId xmlns:a16="http://schemas.microsoft.com/office/drawing/2014/main" id="{FC98C694-F620-48B6-BF65-FB0AFD2108E8}"/>
              </a:ext>
            </a:extLst>
          </p:cNvPr>
          <p:cNvSpPr>
            <a:spLocks xmlns:a="http://schemas.openxmlformats.org/drawingml/2006/main" noGrp="1"/>
          </p:cNvSpPr>
          <p:nvPr/>
        </p:nvSpPr>
        <p:spPr>
          <a:xfrm xmlns:a="http://schemas.openxmlformats.org/drawingml/2006/main">
            <a:off x="7105650" y="2152650"/>
            <a:ext cx="200025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2" name="">
            <a:extLst xmlns:a="http://schemas.openxmlformats.org/drawingml/2006/main">
              <a:ext uri="{FF2B5EF4-FFF2-40B4-BE49-F238E27FC236}">
                <a16:creationId xmlns:a16="http://schemas.microsoft.com/office/drawing/2014/main" id="{00E1AADF-F798-4D1D-92CC-114937BDE225}"/>
              </a:ext>
            </a:extLst>
          </p:cNvPr>
          <p:cNvSpPr>
            <a:spLocks xmlns:a="http://schemas.openxmlformats.org/drawingml/2006/main" noGrp="1"/>
          </p:cNvSpPr>
          <p:nvPr/>
        </p:nvSpPr>
        <p:spPr>
          <a:xfrm xmlns:a="http://schemas.openxmlformats.org/drawingml/2006/main">
            <a:off x="7200900" y="224790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Save relationship</a:t>
            </a:r>
          </a:p>
        </p:txBody>
      </p:sp>
      <p:cxnSp>
        <p:nvCxnSpPr>
          <p:cNvPr id="38" name=""/>
          <p:cNvCxnSpPr>
            <a:stCxn xmlns:a="http://schemas.openxmlformats.org/drawingml/2006/main" id="5" idx="3"/>
            <a:endCxn xmlns:a="http://schemas.openxmlformats.org/drawingml/2006/main" id="7" idx="1"/>
          </p:cNvCxnSpPr>
          <p:nvPr/>
        </p:nvCxnSpPr>
        <p:spPr>
          <a:xfrm xmlns:a="http://schemas.openxmlformats.org/drawingml/2006/main">
            <a:off x="2400300" y="2505075"/>
            <a:ext cx="36195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4572000" y="2505075"/>
            <a:ext cx="36195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6743700" y="2505075"/>
            <a:ext cx="36195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1750BF96-0328-4E02-B883-B1D055B63420}"/>
              </a:ext>
            </a:extLst>
          </p:cNvPr>
          <p:cNvSpPr>
            <a:spLocks xmlns:a="http://schemas.openxmlformats.org/drawingml/2006/main" noGrp="1"/>
          </p:cNvSpPr>
          <p:nvPr/>
        </p:nvSpPr>
        <p:spPr>
          <a:xfrm xmlns:a="http://schemas.openxmlformats.org/drawingml/2006/main">
            <a:off x="9477375" y="20193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9C5F6"/>
                </a:solidFill>
                <a:latin typeface="Arial"/>
                <a:ea typeface="Arial"/>
                <a:cs typeface="Arial"/>
              </a:defRPr>
            </a:pPr>
            <a:r>
              <a:rPr sz="1350" b="1">
                <a:solidFill>
                  <a:srgbClr val="29C5F6"/>
                </a:solidFill>
                <a:latin typeface="Arial"/>
                <a:ea typeface="Arial"/>
                <a:cs typeface="Arial"/>
              </a:rPr>
              <a:t>Finish-to-Start</a:t>
            </a:r>
          </a:p>
        </p:txBody>
      </p:sp>
      <p:sp>
        <p:nvSpPr>
          <p:cNvPr id="17" name="">
            <a:extLst xmlns:a="http://schemas.openxmlformats.org/drawingml/2006/main">
              <a:ext uri="{FF2B5EF4-FFF2-40B4-BE49-F238E27FC236}">
                <a16:creationId xmlns:a16="http://schemas.microsoft.com/office/drawing/2014/main" id="{C728176E-AC67-41BC-9945-94812A8AC01C}"/>
              </a:ext>
            </a:extLst>
          </p:cNvPr>
          <p:cNvSpPr>
            <a:spLocks xmlns:a="http://schemas.openxmlformats.org/drawingml/2006/main" noGrp="1"/>
          </p:cNvSpPr>
          <p:nvPr/>
        </p:nvSpPr>
        <p:spPr>
          <a:xfrm xmlns:a="http://schemas.openxmlformats.org/drawingml/2006/main">
            <a:off x="9477375" y="23812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DD4AC"/>
                </a:solidFill>
                <a:latin typeface="Arial"/>
                <a:ea typeface="Arial"/>
                <a:cs typeface="Arial"/>
              </a:defRPr>
            </a:pPr>
            <a:r>
              <a:rPr sz="1350" b="1">
                <a:solidFill>
                  <a:srgbClr val="4DD4AC"/>
                </a:solidFill>
                <a:latin typeface="Arial"/>
                <a:ea typeface="Arial"/>
                <a:cs typeface="Arial"/>
              </a:rPr>
              <a:t>Start-to-Start</a:t>
            </a:r>
          </a:p>
        </p:txBody>
      </p:sp>
      <p:sp>
        <p:nvSpPr>
          <p:cNvPr id="18" name="">
            <a:extLst xmlns:a="http://schemas.openxmlformats.org/drawingml/2006/main">
              <a:ext uri="{FF2B5EF4-FFF2-40B4-BE49-F238E27FC236}">
                <a16:creationId xmlns:a16="http://schemas.microsoft.com/office/drawing/2014/main" id="{D0F7F1B7-DEE1-4128-9BA6-1614928A5E21}"/>
              </a:ext>
            </a:extLst>
          </p:cNvPr>
          <p:cNvSpPr>
            <a:spLocks xmlns:a="http://schemas.openxmlformats.org/drawingml/2006/main" noGrp="1"/>
          </p:cNvSpPr>
          <p:nvPr/>
        </p:nvSpPr>
        <p:spPr>
          <a:xfrm xmlns:a="http://schemas.openxmlformats.org/drawingml/2006/main">
            <a:off x="9477375" y="27432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B25B"/>
                </a:solidFill>
                <a:latin typeface="Arial"/>
                <a:ea typeface="Arial"/>
                <a:cs typeface="Arial"/>
              </a:defRPr>
            </a:pPr>
            <a:r>
              <a:rPr sz="1350" b="1">
                <a:solidFill>
                  <a:srgbClr val="FFB25B"/>
                </a:solidFill>
                <a:latin typeface="Arial"/>
                <a:ea typeface="Arial"/>
                <a:cs typeface="Arial"/>
              </a:rPr>
              <a:t>Finish-to-Finish</a:t>
            </a:r>
          </a:p>
        </p:txBody>
      </p:sp>
      <p:sp>
        <p:nvSpPr>
          <p:cNvPr id="19" name="">
            <a:extLst xmlns:a="http://schemas.openxmlformats.org/drawingml/2006/main">
              <a:ext uri="{FF2B5EF4-FFF2-40B4-BE49-F238E27FC236}">
                <a16:creationId xmlns:a16="http://schemas.microsoft.com/office/drawing/2014/main" id="{DE2F7FD9-0776-44C1-9695-A86066E82ED6}"/>
              </a:ext>
            </a:extLst>
          </p:cNvPr>
          <p:cNvSpPr>
            <a:spLocks xmlns:a="http://schemas.openxmlformats.org/drawingml/2006/main" noGrp="1"/>
          </p:cNvSpPr>
          <p:nvPr/>
        </p:nvSpPr>
        <p:spPr>
          <a:xfrm xmlns:a="http://schemas.openxmlformats.org/drawingml/2006/main">
            <a:off x="9477375" y="31051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AFC1D6"/>
                </a:solidFill>
                <a:latin typeface="Arial"/>
                <a:ea typeface="Arial"/>
                <a:cs typeface="Arial"/>
              </a:defRPr>
            </a:pPr>
            <a:r>
              <a:rPr sz="1350" b="1">
                <a:solidFill>
                  <a:srgbClr val="AFC1D6"/>
                </a:solidFill>
                <a:latin typeface="Arial"/>
                <a:ea typeface="Arial"/>
                <a:cs typeface="Arial"/>
              </a:rPr>
              <a:t>Start-to-Finish</a:t>
            </a:r>
          </a:p>
        </p:txBody>
      </p:sp>
      <p:sp>
        <p:nvSpPr>
          <p:cNvPr id="20" name="">
            <a:extLst xmlns:a="http://schemas.openxmlformats.org/drawingml/2006/main">
              <a:ext uri="{FF2B5EF4-FFF2-40B4-BE49-F238E27FC236}">
                <a16:creationId xmlns:a16="http://schemas.microsoft.com/office/drawing/2014/main" id="{35022A55-EC67-4FB4-8224-7DD401E761D0}"/>
              </a:ext>
            </a:extLst>
          </p:cNvPr>
          <p:cNvSpPr>
            <a:spLocks xmlns:a="http://schemas.openxmlformats.org/drawingml/2006/main" noGrp="1"/>
          </p:cNvSpPr>
          <p:nvPr/>
        </p:nvSpPr>
        <p:spPr>
          <a:xfrm xmlns:a="http://schemas.openxmlformats.org/drawingml/2006/main">
            <a:off x="590550" y="3762375"/>
            <a:ext cx="74295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Reject self-dependencies and duplicates</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Require both tasks to belong to the accessible project</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Traverse existing prerequisites to detect direct and indirect cycles</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Use a serializable transaction for graph validation and writes</a:t>
            </a:r>
          </a:p>
        </p:txBody>
      </p:sp>
      <p:sp>
        <p:nvSpPr>
          <p:cNvPr id="21" name="">
            <a:extLst xmlns:a="http://schemas.openxmlformats.org/drawingml/2006/main">
              <a:ext uri="{FF2B5EF4-FFF2-40B4-BE49-F238E27FC236}">
                <a16:creationId xmlns:a16="http://schemas.microsoft.com/office/drawing/2014/main" id="{34F6A4DA-0091-4125-A1F6-260E77098773}"/>
              </a:ext>
            </a:extLst>
          </p:cNvPr>
          <p:cNvSpPr>
            <a:spLocks xmlns:a="http://schemas.openxmlformats.org/drawingml/2006/main" noGrp="1"/>
          </p:cNvSpPr>
          <p:nvPr/>
        </p:nvSpPr>
        <p:spPr>
          <a:xfrm xmlns:a="http://schemas.openxmlformats.org/drawingml/2006/main">
            <a:off x="8858250" y="41624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29C5F6"/>
                </a:solidFill>
                <a:latin typeface="Arial"/>
                <a:ea typeface="Arial"/>
                <a:cs typeface="Arial"/>
              </a:defRPr>
            </a:pPr>
            <a:r>
              <a:rPr sz="2100" b="1">
                <a:solidFill>
                  <a:srgbClr val="29C5F6"/>
                </a:solidFill>
                <a:latin typeface="Arial"/>
                <a:ea typeface="Arial"/>
                <a:cs typeface="Arial"/>
              </a:rPr>
              <a:t>5 API actions</a:t>
            </a:r>
          </a:p>
        </p:txBody>
      </p:sp>
      <p:sp>
        <p:nvSpPr>
          <p:cNvPr id="22" name="">
            <a:extLst xmlns:a="http://schemas.openxmlformats.org/drawingml/2006/main">
              <a:ext uri="{FF2B5EF4-FFF2-40B4-BE49-F238E27FC236}">
                <a16:creationId xmlns:a16="http://schemas.microsoft.com/office/drawing/2014/main" id="{E2BC5221-3130-4BE4-BC6D-D4739E3FEE4E}"/>
              </a:ext>
            </a:extLst>
          </p:cNvPr>
          <p:cNvSpPr>
            <a:spLocks xmlns:a="http://schemas.openxmlformats.org/drawingml/2006/main" noGrp="1"/>
          </p:cNvSpPr>
          <p:nvPr/>
        </p:nvSpPr>
        <p:spPr>
          <a:xfrm xmlns:a="http://schemas.openxmlformats.org/drawingml/2006/main">
            <a:off x="8572500" y="46291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AFC1D6"/>
                </a:solidFill>
                <a:latin typeface="Arial"/>
                <a:ea typeface="Arial"/>
                <a:cs typeface="Arial"/>
              </a:defRPr>
            </a:pPr>
            <a:r>
              <a:rPr sz="1200" b="1">
                <a:solidFill>
                  <a:srgbClr val="AFC1D6"/>
                </a:solidFill>
                <a:latin typeface="Arial"/>
                <a:ea typeface="Arial"/>
                <a:cs typeface="Arial"/>
              </a:rPr>
              <a:t>GET  POST  PUT  DELETE</a:t>
            </a:r>
          </a:p>
        </p:txBody>
      </p:sp>
      <p:sp>
        <p:nvSpPr>
          <p:cNvPr id="23" name="">
            <a:extLst xmlns:a="http://schemas.openxmlformats.org/drawingml/2006/main">
              <a:ext uri="{FF2B5EF4-FFF2-40B4-BE49-F238E27FC236}">
                <a16:creationId xmlns:a16="http://schemas.microsoft.com/office/drawing/2014/main" id="{6614CAB2-75C2-446A-8E87-6421E12B2296}"/>
              </a:ext>
            </a:extLst>
          </p:cNvPr>
          <p:cNvSpPr>
            <a:spLocks xmlns:a="http://schemas.openxmlformats.org/drawingml/2006/main" noGrp="1"/>
          </p:cNvSpPr>
          <p:nvPr/>
        </p:nvSpPr>
        <p:spPr>
          <a:xfrm xmlns:a="http://schemas.openxmlformats.org/drawingml/2006/main">
            <a:off x="8477250" y="52197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4DD4AC"/>
                </a:solidFill>
                <a:latin typeface="Arial"/>
                <a:ea typeface="Arial"/>
                <a:cs typeface="Arial"/>
              </a:defRPr>
            </a:pPr>
            <a:r>
              <a:rPr sz="1275" b="1">
                <a:solidFill>
                  <a:srgbClr val="4DD4AC"/>
                </a:solidFill>
                <a:latin typeface="Arial"/>
                <a:ea typeface="Arial"/>
                <a:cs typeface="Arial"/>
              </a:rPr>
              <a:t>Cycle and access tests included</a:t>
            </a:r>
          </a:p>
        </p:txBody>
      </p:sp>
      <p:sp>
        <p:nvSpPr>
          <p:cNvPr id="24" name="">
            <a:extLst xmlns:a="http://schemas.openxmlformats.org/drawingml/2006/main">
              <a:ext uri="{FF2B5EF4-FFF2-40B4-BE49-F238E27FC236}">
                <a16:creationId xmlns:a16="http://schemas.microsoft.com/office/drawing/2014/main" id="{746EBFB2-8A61-4D1A-A063-0866B99EFCC6}"/>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Key files: TasksController.cs, TaskService.cs, TaskDependencyDtos.cs</a:t>
            </a:r>
          </a:p>
        </p:txBody>
      </p:sp>
      <p:sp>
        <p:nvSpPr>
          <p:cNvPr id="25" name="">
            <a:extLst xmlns:a="http://schemas.openxmlformats.org/drawingml/2006/main">
              <a:ext uri="{FF2B5EF4-FFF2-40B4-BE49-F238E27FC236}">
                <a16:creationId xmlns:a16="http://schemas.microsoft.com/office/drawing/2014/main" id="{4311C7CD-5451-4512-95AE-9F3E20164BF6}"/>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405656444"/>
      </p:ext>
    </p:extLst>
  </p:cSld>
</p:sld>
</file>

<file path=ppt/slides/slide6.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F02615-4386-4FCB-8AD7-926CE9CB2ADD}"/>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335D6BFD-1F76-476A-8CB3-45C5DE4F828F}"/>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Project progress and team management</a:t>
            </a:r>
          </a:p>
        </p:txBody>
      </p:sp>
      <p:sp>
        <p:nvSpPr>
          <p:cNvPr id="3" name="">
            <a:extLst xmlns:a="http://schemas.openxmlformats.org/drawingml/2006/main">
              <a:ext uri="{FF2B5EF4-FFF2-40B4-BE49-F238E27FC236}">
                <a16:creationId xmlns:a16="http://schemas.microsoft.com/office/drawing/2014/main" id="{549F6B32-690B-4468-B26D-51B6DD4C80E9}"/>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Live progress plus project-scoped member data for the client application</a:t>
            </a:r>
          </a:p>
        </p:txBody>
      </p:sp>
      <p:sp>
        <p:nvSpPr>
          <p:cNvPr id="4" name="">
            <a:extLst xmlns:a="http://schemas.openxmlformats.org/drawingml/2006/main">
              <a:ext uri="{FF2B5EF4-FFF2-40B4-BE49-F238E27FC236}">
                <a16:creationId xmlns:a16="http://schemas.microsoft.com/office/drawing/2014/main" id="{819D1B0B-77C5-4308-A2C3-B063D6315C8A}"/>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067C35-8DCC-4494-99FF-C6B418F23265}"/>
              </a:ext>
            </a:extLst>
          </p:cNvPr>
          <p:cNvSpPr>
            <a:spLocks xmlns:a="http://schemas.openxmlformats.org/drawingml/2006/main" noGrp="1"/>
          </p:cNvSpPr>
          <p:nvPr/>
        </p:nvSpPr>
        <p:spPr>
          <a:xfrm xmlns:a="http://schemas.openxmlformats.org/drawingml/2006/main">
            <a:off x="552450" y="195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F8FAFC"/>
                </a:solidFill>
                <a:latin typeface="Arial"/>
                <a:ea typeface="Arial"/>
                <a:cs typeface="Arial"/>
              </a:defRPr>
            </a:pPr>
            <a:r>
              <a:rPr sz="1875" b="1">
                <a:solidFill>
                  <a:srgbClr val="F8FAFC"/>
                </a:solidFill>
                <a:latin typeface="Arial"/>
                <a:ea typeface="Arial"/>
                <a:cs typeface="Arial"/>
              </a:rPr>
              <a:t>Progress calculation</a:t>
            </a:r>
          </a:p>
        </p:txBody>
      </p:sp>
      <p:sp>
        <p:nvSpPr>
          <p:cNvPr id="6" name="">
            <a:extLst xmlns:a="http://schemas.openxmlformats.org/drawingml/2006/main">
              <a:ext uri="{FF2B5EF4-FFF2-40B4-BE49-F238E27FC236}">
                <a16:creationId xmlns:a16="http://schemas.microsoft.com/office/drawing/2014/main" id="{43133477-846A-41D1-97B4-9C57A539165F}"/>
              </a:ext>
            </a:extLst>
          </p:cNvPr>
          <p:cNvSpPr>
            <a:spLocks xmlns:a="http://schemas.openxmlformats.org/drawingml/2006/main" noGrp="1"/>
          </p:cNvSpPr>
          <p:nvPr/>
        </p:nvSpPr>
        <p:spPr>
          <a:xfrm xmlns:a="http://schemas.openxmlformats.org/drawingml/2006/main">
            <a:off x="552450" y="24479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29C5F6"/>
                </a:solidFill>
                <a:latin typeface="Arial"/>
                <a:ea typeface="Arial"/>
                <a:cs typeface="Arial"/>
              </a:defRPr>
            </a:pPr>
            <a:r>
              <a:rPr sz="2250" b="1">
                <a:solidFill>
                  <a:srgbClr val="29C5F6"/>
                </a:solidFill>
                <a:latin typeface="Arial"/>
                <a:ea typeface="Arial"/>
                <a:cs typeface="Arial"/>
              </a:rPr>
              <a:t>Average task completion</a:t>
            </a:r>
          </a:p>
        </p:txBody>
      </p:sp>
      <p:sp>
        <p:nvSpPr>
          <p:cNvPr id="7" name="">
            <a:extLst xmlns:a="http://schemas.openxmlformats.org/drawingml/2006/main">
              <a:ext uri="{FF2B5EF4-FFF2-40B4-BE49-F238E27FC236}">
                <a16:creationId xmlns:a16="http://schemas.microsoft.com/office/drawing/2014/main" id="{17A30DD1-4871-4D43-AE49-AA85083204BB}"/>
              </a:ext>
            </a:extLst>
          </p:cNvPr>
          <p:cNvSpPr>
            <a:spLocks xmlns:a="http://schemas.openxmlformats.org/drawingml/2006/main" noGrp="1"/>
          </p:cNvSpPr>
          <p:nvPr/>
        </p:nvSpPr>
        <p:spPr>
          <a:xfrm xmlns:a="http://schemas.openxmlformats.org/drawingml/2006/main">
            <a:off x="552450" y="2990850"/>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AFC1D6"/>
                </a:solidFill>
                <a:latin typeface="Arial"/>
                <a:ea typeface="Arial"/>
                <a:cs typeface="Arial"/>
              </a:defRPr>
            </a:pPr>
            <a:r>
              <a:rPr sz="1500" b="0">
                <a:solidFill>
                  <a:srgbClr val="AFC1D6"/>
                </a:solidFill>
                <a:latin typeface="Arial"/>
                <a:ea typeface="Arial"/>
                <a:cs typeface="Arial"/>
              </a:rPr>
              <a:t>Done tasks count as 100%</a:t>
            </a:r>
          </a:p>
          <a:p xmlns:a="http://schemas.openxmlformats.org/drawingml/2006/main">
            <a:pPr algn="l">
              <a:defRPr sz="1500" b="0">
                <a:solidFill>
                  <a:srgbClr val="AFC1D6"/>
                </a:solidFill>
                <a:latin typeface="Arial"/>
                <a:ea typeface="Arial"/>
                <a:cs typeface="Arial"/>
              </a:defRPr>
            </a:pPr>
            <a:r>
              <a:rPr sz="1500" b="0">
                <a:solidFill>
                  <a:srgbClr val="AFC1D6"/>
                </a:solidFill>
                <a:latin typeface="Arial"/>
                <a:ea typeface="Arial"/>
                <a:cs typeface="Arial"/>
              </a:rPr>
              <a:t>Cancelled tasks stay out of the average</a:t>
            </a:r>
          </a:p>
        </p:txBody>
      </p:sp>
      <p:sp>
        <p:nvSpPr>
          <p:cNvPr id="8" name="">
            <a:extLst xmlns:a="http://schemas.openxmlformats.org/drawingml/2006/main">
              <a:ext uri="{FF2B5EF4-FFF2-40B4-BE49-F238E27FC236}">
                <a16:creationId xmlns:a16="http://schemas.microsoft.com/office/drawing/2014/main" id="{F406B9AB-4D46-454C-9125-0E84A2379315}"/>
              </a:ext>
            </a:extLst>
          </p:cNvPr>
          <p:cNvSpPr>
            <a:spLocks xmlns:a="http://schemas.openxmlformats.org/drawingml/2006/main" noGrp="1"/>
          </p:cNvSpPr>
          <p:nvPr/>
        </p:nvSpPr>
        <p:spPr>
          <a:xfrm xmlns:a="http://schemas.openxmlformats.org/drawingml/2006/main">
            <a:off x="4762500" y="1885950"/>
            <a:ext cx="19050" cy="3857625"/>
          </a:xfrm>
          <a:prstGeom xmlns:a="http://schemas.openxmlformats.org/drawingml/2006/main" prst="rect">
            <a:avLst/>
          </a:prstGeom>
          <a:solidFill xmlns:a="http://schemas.openxmlformats.org/drawingml/2006/main">
            <a:srgbClr val="D7E2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80A45E0-BA40-4F2C-8E35-DB7CDE6E29BC}"/>
              </a:ext>
            </a:extLst>
          </p:cNvPr>
          <p:cNvSpPr>
            <a:spLocks xmlns:a="http://schemas.openxmlformats.org/drawingml/2006/main" noGrp="1"/>
          </p:cNvSpPr>
          <p:nvPr/>
        </p:nvSpPr>
        <p:spPr>
          <a:xfrm xmlns:a="http://schemas.openxmlformats.org/drawingml/2006/main">
            <a:off x="5191125" y="1952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F8FAFC"/>
                </a:solidFill>
                <a:latin typeface="Arial"/>
                <a:ea typeface="Arial"/>
                <a:cs typeface="Arial"/>
              </a:defRPr>
            </a:pPr>
            <a:r>
              <a:rPr sz="1875" b="1">
                <a:solidFill>
                  <a:srgbClr val="F8FAFC"/>
                </a:solidFill>
                <a:latin typeface="Arial"/>
                <a:ea typeface="Arial"/>
                <a:cs typeface="Arial"/>
              </a:rPr>
              <a:t>Member and team rules</a:t>
            </a:r>
          </a:p>
        </p:txBody>
      </p:sp>
      <p:sp>
        <p:nvSpPr>
          <p:cNvPr id="10" name="">
            <a:extLst xmlns:a="http://schemas.openxmlformats.org/drawingml/2006/main">
              <a:ext uri="{FF2B5EF4-FFF2-40B4-BE49-F238E27FC236}">
                <a16:creationId xmlns:a16="http://schemas.microsoft.com/office/drawing/2014/main" id="{320D091C-E902-422B-80AE-61288D09654D}"/>
              </a:ext>
            </a:extLst>
          </p:cNvPr>
          <p:cNvSpPr>
            <a:spLocks xmlns:a="http://schemas.openxmlformats.org/drawingml/2006/main" noGrp="1"/>
          </p:cNvSpPr>
          <p:nvPr/>
        </p:nvSpPr>
        <p:spPr>
          <a:xfrm xmlns:a="http://schemas.openxmlformats.org/drawingml/2006/main">
            <a:off x="5191125" y="2476500"/>
            <a:ext cx="6191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Any accessible member can read project data</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Only the project owner can manage members and teams</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Team participants must already have project access</a:t>
            </a:r>
          </a:p>
          <a:p xmlns:a="http://schemas.openxmlformats.org/drawingml/2006/main">
            <a:pPr marL="228600" indent="-114300">
              <a:spcAft>
                <a:spcPts val="1000"/>
              </a:spcAft>
              <a:buChar char="•"/>
              <a:defRPr sz="1575">
                <a:solidFill>
                  <a:srgbClr val="F8FAFC"/>
                </a:solidFill>
                <a:latin typeface="Arial"/>
                <a:ea typeface="Arial"/>
                <a:cs typeface="Arial"/>
              </a:defRPr>
            </a:pPr>
            <a:r>
              <a:rPr sz="1575">
                <a:solidFill>
                  <a:srgbClr val="F8FAFC"/>
                </a:solidFill>
                <a:latin typeface="Arial"/>
                <a:ea typeface="Arial"/>
                <a:cs typeface="Arial"/>
              </a:rPr>
              <a:t>Blocking or removing a member clears team links and leadership</a:t>
            </a:r>
          </a:p>
        </p:txBody>
      </p:sp>
      <p:sp>
        <p:nvSpPr>
          <p:cNvPr id="11" name="">
            <a:extLst xmlns:a="http://schemas.openxmlformats.org/drawingml/2006/main">
              <a:ext uri="{FF2B5EF4-FFF2-40B4-BE49-F238E27FC236}">
                <a16:creationId xmlns:a16="http://schemas.microsoft.com/office/drawing/2014/main" id="{F35FEE39-A6AD-474D-A690-BF12A101F35E}"/>
              </a:ext>
            </a:extLst>
          </p:cNvPr>
          <p:cNvSpPr>
            <a:spLocks xmlns:a="http://schemas.openxmlformats.org/drawingml/2006/main" noGrp="1"/>
          </p:cNvSpPr>
          <p:nvPr/>
        </p:nvSpPr>
        <p:spPr>
          <a:xfrm xmlns:a="http://schemas.openxmlformats.org/drawingml/2006/main">
            <a:off x="5191125" y="495300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4DD4AC"/>
                </a:solidFill>
                <a:latin typeface="Arial"/>
                <a:ea typeface="Arial"/>
                <a:cs typeface="Arial"/>
              </a:defRPr>
            </a:pPr>
            <a:r>
              <a:rPr sz="1575" b="1">
                <a:solidFill>
                  <a:srgbClr val="4DD4AC"/>
                </a:solidFill>
                <a:latin typeface="Arial"/>
                <a:ea typeface="Arial"/>
                <a:cs typeface="Arial"/>
              </a:rPr>
              <a:t>Client DTOs return names, roles, member counts, lead data, and progress totals.</a:t>
            </a:r>
          </a:p>
        </p:txBody>
      </p:sp>
      <p:sp>
        <p:nvSpPr>
          <p:cNvPr id="12" name="">
            <a:extLst xmlns:a="http://schemas.openxmlformats.org/drawingml/2006/main">
              <a:ext uri="{FF2B5EF4-FFF2-40B4-BE49-F238E27FC236}">
                <a16:creationId xmlns:a16="http://schemas.microsoft.com/office/drawing/2014/main" id="{2722B7CE-1DD7-4FF1-BAC7-DCA5F32518E2}"/>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16 actions across progress, project members, teams, and team members</a:t>
            </a:r>
          </a:p>
        </p:txBody>
      </p:sp>
      <p:sp>
        <p:nvSpPr>
          <p:cNvPr id="13" name="">
            <a:extLst xmlns:a="http://schemas.openxmlformats.org/drawingml/2006/main">
              <a:ext uri="{FF2B5EF4-FFF2-40B4-BE49-F238E27FC236}">
                <a16:creationId xmlns:a16="http://schemas.microsoft.com/office/drawing/2014/main" id="{C70B2643-857F-4924-A810-D5C97BDFEFF8}"/>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85054730"/>
      </p:ext>
    </p:extLst>
  </p:cSld>
</p:sld>
</file>

<file path=ppt/slides/slide7.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11E149B-780E-47FD-B19C-02F8C6604906}"/>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091D7FA0-B242-4ACA-BE17-3DDF5FC32B04}"/>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AI and ML integration boundary</a:t>
            </a:r>
          </a:p>
        </p:txBody>
      </p:sp>
      <p:sp>
        <p:nvSpPr>
          <p:cNvPr id="3" name="">
            <a:extLst xmlns:a="http://schemas.openxmlformats.org/drawingml/2006/main">
              <a:ext uri="{FF2B5EF4-FFF2-40B4-BE49-F238E27FC236}">
                <a16:creationId xmlns:a16="http://schemas.microsoft.com/office/drawing/2014/main" id="{A729584D-E23C-48A9-826A-B84D6EFE910B}"/>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The API contract is ready; the external ML service remains disconnected</a:t>
            </a:r>
          </a:p>
        </p:txBody>
      </p:sp>
      <p:sp>
        <p:nvSpPr>
          <p:cNvPr id="4" name="">
            <a:extLst xmlns:a="http://schemas.openxmlformats.org/drawingml/2006/main">
              <a:ext uri="{FF2B5EF4-FFF2-40B4-BE49-F238E27FC236}">
                <a16:creationId xmlns:a16="http://schemas.microsoft.com/office/drawing/2014/main" id="{05643BC1-76C8-4635-BEBE-CE5934BA0BBA}"/>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05375F-220E-4793-9B87-AC91B17A2A11}"/>
              </a:ext>
            </a:extLst>
          </p:cNvPr>
          <p:cNvSpPr>
            <a:spLocks xmlns:a="http://schemas.openxmlformats.org/drawingml/2006/main" noGrp="1"/>
          </p:cNvSpPr>
          <p:nvPr/>
        </p:nvSpPr>
        <p:spPr>
          <a:xfrm xmlns:a="http://schemas.openxmlformats.org/drawingml/2006/main">
            <a:off x="457200" y="2286000"/>
            <a:ext cx="175260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6" name="">
            <a:extLst xmlns:a="http://schemas.openxmlformats.org/drawingml/2006/main">
              <a:ext uri="{FF2B5EF4-FFF2-40B4-BE49-F238E27FC236}">
                <a16:creationId xmlns:a16="http://schemas.microsoft.com/office/drawing/2014/main" id="{4E314E68-3A8F-4200-B851-D47EBCF47B79}"/>
              </a:ext>
            </a:extLst>
          </p:cNvPr>
          <p:cNvSpPr>
            <a:spLocks xmlns:a="http://schemas.openxmlformats.org/drawingml/2006/main" noGrp="1"/>
          </p:cNvSpPr>
          <p:nvPr/>
        </p:nvSpPr>
        <p:spPr>
          <a:xfrm xmlns:a="http://schemas.openxmlformats.org/drawingml/2006/main">
            <a:off x="552450" y="238125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Flutter</a:t>
            </a:r>
          </a:p>
        </p:txBody>
      </p:sp>
      <p:sp>
        <p:nvSpPr>
          <p:cNvPr id="7" name="">
            <a:extLst xmlns:a="http://schemas.openxmlformats.org/drawingml/2006/main">
              <a:ext uri="{FF2B5EF4-FFF2-40B4-BE49-F238E27FC236}">
                <a16:creationId xmlns:a16="http://schemas.microsoft.com/office/drawing/2014/main" id="{0D02763A-3A12-46AF-9CC3-A8D29FA719D8}"/>
              </a:ext>
            </a:extLst>
          </p:cNvPr>
          <p:cNvSpPr>
            <a:spLocks xmlns:a="http://schemas.openxmlformats.org/drawingml/2006/main" noGrp="1"/>
          </p:cNvSpPr>
          <p:nvPr/>
        </p:nvSpPr>
        <p:spPr>
          <a:xfrm xmlns:a="http://schemas.openxmlformats.org/drawingml/2006/main">
            <a:off x="2571750" y="2286000"/>
            <a:ext cx="1752600" cy="704850"/>
          </a:xfrm>
          <a:prstGeom xmlns:a="http://schemas.openxmlformats.org/drawingml/2006/main" prst="roundRect">
            <a:avLst>
              <a:gd name="adj" fmla="val 10811"/>
            </a:avLst>
          </a:prstGeom>
          <a:solidFill xmlns:a="http://schemas.openxmlformats.org/drawingml/2006/main">
            <a:srgbClr val="29C5F6"/>
          </a:solidFill>
          <a:ln xmlns:a="http://schemas.openxmlformats.org/drawingml/2006/main" w="0">
            <a:solidFill>
              <a:srgbClr val="29C5F6"/>
            </a:solidFill>
          </a:ln>
        </p:spPr>
      </p:sp>
      <p:sp>
        <p:nvSpPr>
          <p:cNvPr id="8" name="">
            <a:extLst xmlns:a="http://schemas.openxmlformats.org/drawingml/2006/main">
              <a:ext uri="{FF2B5EF4-FFF2-40B4-BE49-F238E27FC236}">
                <a16:creationId xmlns:a16="http://schemas.microsoft.com/office/drawing/2014/main" id="{2952072C-5183-4986-9028-E52CBCCDB4CE}"/>
              </a:ext>
            </a:extLst>
          </p:cNvPr>
          <p:cNvSpPr>
            <a:spLocks xmlns:a="http://schemas.openxmlformats.org/drawingml/2006/main" noGrp="1"/>
          </p:cNvSpPr>
          <p:nvPr/>
        </p:nvSpPr>
        <p:spPr>
          <a:xfrm xmlns:a="http://schemas.openxmlformats.org/drawingml/2006/main">
            <a:off x="2667000" y="238125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ASP.NET API</a:t>
            </a:r>
          </a:p>
        </p:txBody>
      </p:sp>
      <p:sp>
        <p:nvSpPr>
          <p:cNvPr id="9" name="">
            <a:extLst xmlns:a="http://schemas.openxmlformats.org/drawingml/2006/main">
              <a:ext uri="{FF2B5EF4-FFF2-40B4-BE49-F238E27FC236}">
                <a16:creationId xmlns:a16="http://schemas.microsoft.com/office/drawing/2014/main" id="{A8B58889-DD00-4F91-A76E-967520BC48D1}"/>
              </a:ext>
            </a:extLst>
          </p:cNvPr>
          <p:cNvSpPr>
            <a:spLocks xmlns:a="http://schemas.openxmlformats.org/drawingml/2006/main" noGrp="1"/>
          </p:cNvSpPr>
          <p:nvPr/>
        </p:nvSpPr>
        <p:spPr>
          <a:xfrm xmlns:a="http://schemas.openxmlformats.org/drawingml/2006/main">
            <a:off x="4895850" y="2286000"/>
            <a:ext cx="175260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0" name="">
            <a:extLst xmlns:a="http://schemas.openxmlformats.org/drawingml/2006/main">
              <a:ext uri="{FF2B5EF4-FFF2-40B4-BE49-F238E27FC236}">
                <a16:creationId xmlns:a16="http://schemas.microsoft.com/office/drawing/2014/main" id="{FC94ADB7-8265-4261-9BE3-60DF5423EDAC}"/>
              </a:ext>
            </a:extLst>
          </p:cNvPr>
          <p:cNvSpPr>
            <a:spLocks xmlns:a="http://schemas.openxmlformats.org/drawingml/2006/main" noGrp="1"/>
          </p:cNvSpPr>
          <p:nvPr/>
        </p:nvSpPr>
        <p:spPr>
          <a:xfrm xmlns:a="http://schemas.openxmlformats.org/drawingml/2006/main">
            <a:off x="4991100" y="238125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Project data</a:t>
            </a:r>
          </a:p>
        </p:txBody>
      </p:sp>
      <p:sp>
        <p:nvSpPr>
          <p:cNvPr id="11" name="">
            <a:extLst xmlns:a="http://schemas.openxmlformats.org/drawingml/2006/main">
              <a:ext uri="{FF2B5EF4-FFF2-40B4-BE49-F238E27FC236}">
                <a16:creationId xmlns:a16="http://schemas.microsoft.com/office/drawing/2014/main" id="{3422DD5D-486E-4D44-9E94-F5155FAE56EE}"/>
              </a:ext>
            </a:extLst>
          </p:cNvPr>
          <p:cNvSpPr>
            <a:spLocks xmlns:a="http://schemas.openxmlformats.org/drawingml/2006/main" noGrp="1"/>
          </p:cNvSpPr>
          <p:nvPr/>
        </p:nvSpPr>
        <p:spPr>
          <a:xfrm xmlns:a="http://schemas.openxmlformats.org/drawingml/2006/main">
            <a:off x="7219950" y="2286000"/>
            <a:ext cx="1752600" cy="704850"/>
          </a:xfrm>
          <a:prstGeom xmlns:a="http://schemas.openxmlformats.org/drawingml/2006/main" prst="roundRect">
            <a:avLst>
              <a:gd name="adj" fmla="val 10811"/>
            </a:avLst>
          </a:prstGeom>
          <a:solidFill xmlns:a="http://schemas.openxmlformats.org/drawingml/2006/main">
            <a:srgbClr val="FFB25B"/>
          </a:solidFill>
          <a:ln xmlns:a="http://schemas.openxmlformats.org/drawingml/2006/main" w="0">
            <a:solidFill>
              <a:srgbClr val="FFB25B"/>
            </a:solidFill>
          </a:ln>
        </p:spPr>
      </p:sp>
      <p:sp>
        <p:nvSpPr>
          <p:cNvPr id="12" name="">
            <a:extLst xmlns:a="http://schemas.openxmlformats.org/drawingml/2006/main">
              <a:ext uri="{FF2B5EF4-FFF2-40B4-BE49-F238E27FC236}">
                <a16:creationId xmlns:a16="http://schemas.microsoft.com/office/drawing/2014/main" id="{3C47F00C-AAC1-4391-AA48-3930DA8359F2}"/>
              </a:ext>
            </a:extLst>
          </p:cNvPr>
          <p:cNvSpPr>
            <a:spLocks xmlns:a="http://schemas.openxmlformats.org/drawingml/2006/main" noGrp="1"/>
          </p:cNvSpPr>
          <p:nvPr/>
        </p:nvSpPr>
        <p:spPr>
          <a:xfrm xmlns:a="http://schemas.openxmlformats.org/drawingml/2006/main">
            <a:off x="7315200" y="238125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0B132B"/>
                </a:solidFill>
                <a:latin typeface="Arial"/>
                <a:ea typeface="Arial"/>
                <a:cs typeface="Arial"/>
              </a:defRPr>
            </a:pPr>
            <a:r>
              <a:rPr sz="1425" b="1">
                <a:solidFill>
                  <a:srgbClr val="0B132B"/>
                </a:solidFill>
                <a:latin typeface="Arial"/>
                <a:ea typeface="Arial"/>
                <a:cs typeface="Arial"/>
              </a:rPr>
              <a:t>IMlService</a:t>
            </a:r>
          </a:p>
        </p:txBody>
      </p:sp>
      <p:sp>
        <p:nvSpPr>
          <p:cNvPr id="13" name="">
            <a:extLst xmlns:a="http://schemas.openxmlformats.org/drawingml/2006/main">
              <a:ext uri="{FF2B5EF4-FFF2-40B4-BE49-F238E27FC236}">
                <a16:creationId xmlns:a16="http://schemas.microsoft.com/office/drawing/2014/main" id="{F9CE7E74-E8D4-4664-9D68-D8847587F145}"/>
              </a:ext>
            </a:extLst>
          </p:cNvPr>
          <p:cNvSpPr>
            <a:spLocks xmlns:a="http://schemas.openxmlformats.org/drawingml/2006/main" noGrp="1"/>
          </p:cNvSpPr>
          <p:nvPr/>
        </p:nvSpPr>
        <p:spPr>
          <a:xfrm xmlns:a="http://schemas.openxmlformats.org/drawingml/2006/main">
            <a:off x="9544050" y="2286000"/>
            <a:ext cx="1752600" cy="704850"/>
          </a:xfrm>
          <a:prstGeom xmlns:a="http://schemas.openxmlformats.org/drawingml/2006/main" prst="roundRect">
            <a:avLst>
              <a:gd name="adj" fmla="val 10811"/>
            </a:avLst>
          </a:prstGeom>
          <a:solidFill xmlns:a="http://schemas.openxmlformats.org/drawingml/2006/main">
            <a:srgbClr val="F8FAFC"/>
          </a:solidFill>
          <a:ln xmlns:a="http://schemas.openxmlformats.org/drawingml/2006/main" w="19050">
            <a:solidFill>
              <a:srgbClr val="D7E2EC"/>
            </a:solidFill>
          </a:ln>
        </p:spPr>
      </p:sp>
      <p:sp>
        <p:nvSpPr>
          <p:cNvPr id="14" name="">
            <a:extLst xmlns:a="http://schemas.openxmlformats.org/drawingml/2006/main">
              <a:ext uri="{FF2B5EF4-FFF2-40B4-BE49-F238E27FC236}">
                <a16:creationId xmlns:a16="http://schemas.microsoft.com/office/drawing/2014/main" id="{E1569B1E-2DBE-4489-AC23-E44E95F48FA8}"/>
              </a:ext>
            </a:extLst>
          </p:cNvPr>
          <p:cNvSpPr>
            <a:spLocks xmlns:a="http://schemas.openxmlformats.org/drawingml/2006/main" noGrp="1"/>
          </p:cNvSpPr>
          <p:nvPr/>
        </p:nvSpPr>
        <p:spPr>
          <a:xfrm xmlns:a="http://schemas.openxmlformats.org/drawingml/2006/main">
            <a:off x="9639300" y="238125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72033"/>
                </a:solidFill>
                <a:latin typeface="Arial"/>
                <a:ea typeface="Arial"/>
                <a:cs typeface="Arial"/>
              </a:defRPr>
            </a:pPr>
            <a:r>
              <a:rPr sz="1425" b="1">
                <a:solidFill>
                  <a:srgbClr val="172033"/>
                </a:solidFill>
                <a:latin typeface="Arial"/>
                <a:ea typeface="Arial"/>
                <a:cs typeface="Arial"/>
              </a:rPr>
              <a:t>AI result</a:t>
            </a:r>
          </a:p>
        </p:txBody>
      </p:sp>
      <p:cxnSp>
        <p:nvCxnSpPr>
          <p:cNvPr id="44" name=""/>
          <p:cNvCxnSpPr>
            <a:stCxn xmlns:a="http://schemas.openxmlformats.org/drawingml/2006/main" id="5" idx="3"/>
            <a:endCxn xmlns:a="http://schemas.openxmlformats.org/drawingml/2006/main" id="7" idx="1"/>
          </p:cNvCxnSpPr>
          <p:nvPr/>
        </p:nvCxnSpPr>
        <p:spPr>
          <a:xfrm xmlns:a="http://schemas.openxmlformats.org/drawingml/2006/main">
            <a:off x="2209800" y="2638425"/>
            <a:ext cx="36195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4324350" y="2638425"/>
            <a:ext cx="5715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46" name=""/>
          <p:cNvCxnSpPr>
            <a:stCxn xmlns:a="http://schemas.openxmlformats.org/drawingml/2006/main" id="9" idx="3"/>
            <a:endCxn xmlns:a="http://schemas.openxmlformats.org/drawingml/2006/main" id="11" idx="1"/>
          </p:cNvCxnSpPr>
          <p:nvPr/>
        </p:nvCxnSpPr>
        <p:spPr>
          <a:xfrm xmlns:a="http://schemas.openxmlformats.org/drawingml/2006/main">
            <a:off x="6648450" y="2638425"/>
            <a:ext cx="5715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cxnSp>
        <p:nvCxnSpPr>
          <p:cNvPr id="47" name=""/>
          <p:cNvCxnSpPr>
            <a:stCxn xmlns:a="http://schemas.openxmlformats.org/drawingml/2006/main" id="11" idx="3"/>
            <a:endCxn xmlns:a="http://schemas.openxmlformats.org/drawingml/2006/main" id="13" idx="1"/>
          </p:cNvCxnSpPr>
          <p:nvPr/>
        </p:nvCxnSpPr>
        <p:spPr>
          <a:xfrm xmlns:a="http://schemas.openxmlformats.org/drawingml/2006/main">
            <a:off x="8972550" y="2638425"/>
            <a:ext cx="571500" cy="0"/>
          </a:xfrm>
          <a:prstGeom xmlns:a="http://schemas.openxmlformats.org/drawingml/2006/main" prst="straightConnector1">
            <a:avLst/>
          </a:prstGeom>
          <a:ln xmlns:a="http://schemas.openxmlformats.org/drawingml/2006/main" w="28575">
            <a:solidFill>
              <a:srgbClr val="29C5F6"/>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CD8C85EA-CC5A-4F74-A569-16A730D47EF5}"/>
              </a:ext>
            </a:extLst>
          </p:cNvPr>
          <p:cNvSpPr>
            <a:spLocks xmlns:a="http://schemas.openxmlformats.org/drawingml/2006/main" noGrp="1"/>
          </p:cNvSpPr>
          <p:nvPr/>
        </p:nvSpPr>
        <p:spPr>
          <a:xfrm xmlns:a="http://schemas.openxmlformats.org/drawingml/2006/main">
            <a:off x="666750" y="37528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9C5F6"/>
                </a:solidFill>
                <a:latin typeface="Arial"/>
                <a:ea typeface="Arial"/>
                <a:cs typeface="Arial"/>
              </a:defRPr>
            </a:pPr>
            <a:r>
              <a:rPr sz="1425" b="1">
                <a:solidFill>
                  <a:srgbClr val="29C5F6"/>
                </a:solidFill>
                <a:latin typeface="Arial"/>
                <a:ea typeface="Arial"/>
                <a:cs typeface="Arial"/>
              </a:rPr>
              <a:t>Delay prediction</a:t>
            </a:r>
          </a:p>
        </p:txBody>
      </p:sp>
      <p:sp>
        <p:nvSpPr>
          <p:cNvPr id="20" name="">
            <a:extLst xmlns:a="http://schemas.openxmlformats.org/drawingml/2006/main">
              <a:ext uri="{FF2B5EF4-FFF2-40B4-BE49-F238E27FC236}">
                <a16:creationId xmlns:a16="http://schemas.microsoft.com/office/drawing/2014/main" id="{3570EDC9-F178-4441-8CD0-008E0A0555A4}"/>
              </a:ext>
            </a:extLst>
          </p:cNvPr>
          <p:cNvSpPr>
            <a:spLocks xmlns:a="http://schemas.openxmlformats.org/drawingml/2006/main" noGrp="1"/>
          </p:cNvSpPr>
          <p:nvPr/>
        </p:nvSpPr>
        <p:spPr>
          <a:xfrm xmlns:a="http://schemas.openxmlformats.org/drawingml/2006/main">
            <a:off x="3429000" y="37528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4DD4AC"/>
                </a:solidFill>
                <a:latin typeface="Arial"/>
                <a:ea typeface="Arial"/>
                <a:cs typeface="Arial"/>
              </a:defRPr>
            </a:pPr>
            <a:r>
              <a:rPr sz="1425" b="1">
                <a:solidFill>
                  <a:srgbClr val="4DD4AC"/>
                </a:solidFill>
                <a:latin typeface="Arial"/>
                <a:ea typeface="Arial"/>
                <a:cs typeface="Arial"/>
              </a:rPr>
              <a:t>Risk analysis</a:t>
            </a:r>
          </a:p>
        </p:txBody>
      </p:sp>
      <p:sp>
        <p:nvSpPr>
          <p:cNvPr id="21" name="">
            <a:extLst xmlns:a="http://schemas.openxmlformats.org/drawingml/2006/main">
              <a:ext uri="{FF2B5EF4-FFF2-40B4-BE49-F238E27FC236}">
                <a16:creationId xmlns:a16="http://schemas.microsoft.com/office/drawing/2014/main" id="{A21938FB-F2A9-4A43-812F-DD8CFE84E505}"/>
              </a:ext>
            </a:extLst>
          </p:cNvPr>
          <p:cNvSpPr>
            <a:spLocks xmlns:a="http://schemas.openxmlformats.org/drawingml/2006/main" noGrp="1"/>
          </p:cNvSpPr>
          <p:nvPr/>
        </p:nvSpPr>
        <p:spPr>
          <a:xfrm xmlns:a="http://schemas.openxmlformats.org/drawingml/2006/main">
            <a:off x="6191250" y="37528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FFB25B"/>
                </a:solidFill>
                <a:latin typeface="Arial"/>
                <a:ea typeface="Arial"/>
                <a:cs typeface="Arial"/>
              </a:defRPr>
            </a:pPr>
            <a:r>
              <a:rPr sz="1425" b="1">
                <a:solidFill>
                  <a:srgbClr val="FFB25B"/>
                </a:solidFill>
                <a:latin typeface="Arial"/>
                <a:ea typeface="Arial"/>
                <a:cs typeface="Arial"/>
              </a:rPr>
              <a:t>Bottleneck detection</a:t>
            </a:r>
          </a:p>
        </p:txBody>
      </p:sp>
      <p:sp>
        <p:nvSpPr>
          <p:cNvPr id="22" name="">
            <a:extLst xmlns:a="http://schemas.openxmlformats.org/drawingml/2006/main">
              <a:ext uri="{FF2B5EF4-FFF2-40B4-BE49-F238E27FC236}">
                <a16:creationId xmlns:a16="http://schemas.microsoft.com/office/drawing/2014/main" id="{105621EF-F2B9-4D88-A11C-6C0ADB940D74}"/>
              </a:ext>
            </a:extLst>
          </p:cNvPr>
          <p:cNvSpPr>
            <a:spLocks xmlns:a="http://schemas.openxmlformats.org/drawingml/2006/main" noGrp="1"/>
          </p:cNvSpPr>
          <p:nvPr/>
        </p:nvSpPr>
        <p:spPr>
          <a:xfrm xmlns:a="http://schemas.openxmlformats.org/drawingml/2006/main">
            <a:off x="8953500" y="37528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9C5F6"/>
                </a:solidFill>
                <a:latin typeface="Arial"/>
                <a:ea typeface="Arial"/>
                <a:cs typeface="Arial"/>
              </a:defRPr>
            </a:pPr>
            <a:r>
              <a:rPr sz="1425" b="1">
                <a:solidFill>
                  <a:srgbClr val="29C5F6"/>
                </a:solidFill>
                <a:latin typeface="Arial"/>
                <a:ea typeface="Arial"/>
                <a:cs typeface="Arial"/>
              </a:rPr>
              <a:t>Project health</a:t>
            </a:r>
          </a:p>
        </p:txBody>
      </p:sp>
      <p:sp>
        <p:nvSpPr>
          <p:cNvPr id="23" name="">
            <a:extLst xmlns:a="http://schemas.openxmlformats.org/drawingml/2006/main">
              <a:ext uri="{FF2B5EF4-FFF2-40B4-BE49-F238E27FC236}">
                <a16:creationId xmlns:a16="http://schemas.microsoft.com/office/drawing/2014/main" id="{8D5C9432-7884-4BC4-8F7F-B887369DAA80}"/>
              </a:ext>
            </a:extLst>
          </p:cNvPr>
          <p:cNvSpPr>
            <a:spLocks xmlns:a="http://schemas.openxmlformats.org/drawingml/2006/main" noGrp="1"/>
          </p:cNvSpPr>
          <p:nvPr/>
        </p:nvSpPr>
        <p:spPr>
          <a:xfrm xmlns:a="http://schemas.openxmlformats.org/drawingml/2006/main">
            <a:off x="666750" y="4381500"/>
            <a:ext cx="10668000" cy="19050"/>
          </a:xfrm>
          <a:prstGeom xmlns:a="http://schemas.openxmlformats.org/drawingml/2006/main" prst="rect">
            <a:avLst/>
          </a:prstGeom>
          <a:solidFill xmlns:a="http://schemas.openxmlformats.org/drawingml/2006/main">
            <a:srgbClr val="D7E2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C2AA385-6B7B-4A95-A9C9-6B5E9665028E}"/>
              </a:ext>
            </a:extLst>
          </p:cNvPr>
          <p:cNvSpPr>
            <a:spLocks xmlns:a="http://schemas.openxmlformats.org/drawingml/2006/main" noGrp="1"/>
          </p:cNvSpPr>
          <p:nvPr/>
        </p:nvSpPr>
        <p:spPr>
          <a:xfrm xmlns:a="http://schemas.openxmlformats.org/drawingml/2006/main">
            <a:off x="666750" y="46291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8FAFC"/>
                </a:solidFill>
                <a:latin typeface="Arial"/>
                <a:ea typeface="Arial"/>
                <a:cs typeface="Arial"/>
              </a:defRPr>
            </a:pPr>
            <a:r>
              <a:rPr sz="1500" b="1">
                <a:solidFill>
                  <a:srgbClr val="F8FAFC"/>
                </a:solidFill>
                <a:latin typeface="Arial"/>
                <a:ea typeface="Arial"/>
                <a:cs typeface="Arial"/>
              </a:rPr>
              <a:t>Current behavior</a:t>
            </a:r>
          </a:p>
        </p:txBody>
      </p:sp>
      <p:sp>
        <p:nvSpPr>
          <p:cNvPr id="25" name="">
            <a:extLst xmlns:a="http://schemas.openxmlformats.org/drawingml/2006/main">
              <a:ext uri="{FF2B5EF4-FFF2-40B4-BE49-F238E27FC236}">
                <a16:creationId xmlns:a16="http://schemas.microsoft.com/office/drawing/2014/main" id="{4F0FF003-1320-4D4B-A7FE-FC3187E74799}"/>
              </a:ext>
            </a:extLst>
          </p:cNvPr>
          <p:cNvSpPr>
            <a:spLocks xmlns:a="http://schemas.openxmlformats.org/drawingml/2006/main" noGrp="1"/>
          </p:cNvSpPr>
          <p:nvPr/>
        </p:nvSpPr>
        <p:spPr>
          <a:xfrm xmlns:a="http://schemas.openxmlformats.org/drawingml/2006/main">
            <a:off x="2905125" y="46291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ProjectAiService authorizes access and prepares project-scoped task and dependency DTOs.</a:t>
            </a:r>
          </a:p>
        </p:txBody>
      </p:sp>
      <p:sp>
        <p:nvSpPr>
          <p:cNvPr id="26" name="">
            <a:extLst xmlns:a="http://schemas.openxmlformats.org/drawingml/2006/main">
              <a:ext uri="{FF2B5EF4-FFF2-40B4-BE49-F238E27FC236}">
                <a16:creationId xmlns:a16="http://schemas.microsoft.com/office/drawing/2014/main" id="{E1C840ED-8F2E-429F-B2B8-28927779E5CF}"/>
              </a:ext>
            </a:extLst>
          </p:cNvPr>
          <p:cNvSpPr>
            <a:spLocks xmlns:a="http://schemas.openxmlformats.org/drawingml/2006/main" noGrp="1"/>
          </p:cNvSpPr>
          <p:nvPr/>
        </p:nvSpPr>
        <p:spPr>
          <a:xfrm xmlns:a="http://schemas.openxmlformats.org/drawingml/2006/main">
            <a:off x="2905125" y="50482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B25B"/>
                </a:solidFill>
                <a:latin typeface="Arial"/>
                <a:ea typeface="Arial"/>
                <a:cs typeface="Arial"/>
              </a:defRPr>
            </a:pPr>
            <a:r>
              <a:rPr sz="1350" b="1">
                <a:solidFill>
                  <a:srgbClr val="FFB25B"/>
                </a:solidFill>
                <a:latin typeface="Arial"/>
                <a:ea typeface="Arial"/>
                <a:cs typeface="Arial"/>
              </a:rPr>
              <a:t>UnavailableMlService returns HTTP 503 until the real adapter and ML contract are connected.</a:t>
            </a:r>
          </a:p>
        </p:txBody>
      </p:sp>
      <p:sp>
        <p:nvSpPr>
          <p:cNvPr id="27" name="">
            <a:extLst xmlns:a="http://schemas.openxmlformats.org/drawingml/2006/main">
              <a:ext uri="{FF2B5EF4-FFF2-40B4-BE49-F238E27FC236}">
                <a16:creationId xmlns:a16="http://schemas.microsoft.com/office/drawing/2014/main" id="{529F4FE0-EB4A-4899-9F24-67FEB1FF6C58}"/>
              </a:ext>
            </a:extLst>
          </p:cNvPr>
          <p:cNvSpPr>
            <a:spLocks xmlns:a="http://schemas.openxmlformats.org/drawingml/2006/main" noGrp="1"/>
          </p:cNvSpPr>
          <p:nvPr/>
        </p:nvSpPr>
        <p:spPr>
          <a:xfrm xmlns:a="http://schemas.openxmlformats.org/drawingml/2006/main">
            <a:off x="2905125" y="546735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DD4AC"/>
                </a:solidFill>
                <a:latin typeface="Arial"/>
                <a:ea typeface="Arial"/>
                <a:cs typeface="Arial"/>
              </a:defRPr>
            </a:pPr>
            <a:r>
              <a:rPr sz="1350" b="1">
                <a:solidFill>
                  <a:srgbClr val="4DD4AC"/>
                </a:solidFill>
                <a:latin typeface="Arial"/>
                <a:ea typeface="Arial"/>
                <a:cs typeface="Arial"/>
              </a:rPr>
              <a:t>Tests verify both successful fake-adapter responses and the disconnected state.</a:t>
            </a:r>
          </a:p>
        </p:txBody>
      </p:sp>
      <p:sp>
        <p:nvSpPr>
          <p:cNvPr id="28" name="">
            <a:extLst xmlns:a="http://schemas.openxmlformats.org/drawingml/2006/main">
              <a:ext uri="{FF2B5EF4-FFF2-40B4-BE49-F238E27FC236}">
                <a16:creationId xmlns:a16="http://schemas.microsoft.com/office/drawing/2014/main" id="{95D4736B-E480-45F8-9780-F9E73FEB6571}"/>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4 POST endpoints under /api/projects/{projectId}/ai</a:t>
            </a:r>
          </a:p>
        </p:txBody>
      </p:sp>
      <p:sp>
        <p:nvSpPr>
          <p:cNvPr id="29" name="">
            <a:extLst xmlns:a="http://schemas.openxmlformats.org/drawingml/2006/main">
              <a:ext uri="{FF2B5EF4-FFF2-40B4-BE49-F238E27FC236}">
                <a16:creationId xmlns:a16="http://schemas.microsoft.com/office/drawing/2014/main" id="{0582307A-F8B0-4B10-9BD4-B4C030E6F2B0}"/>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1585875334"/>
      </p:ext>
    </p:extLst>
  </p:cSld>
</p:sld>
</file>

<file path=ppt/slides/slide8.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4B79FD-BB6D-4263-A72D-E9355B2E1E78}"/>
              </a:ext>
            </a:extLst>
          </p:cNvPr>
          <p:cNvSpPr>
            <a:spLocks xmlns:a="http://schemas.openxmlformats.org/drawingml/2006/main" noGrp="1"/>
          </p:cNvSpPr>
          <p:nvPr/>
        </p:nvSpPr>
        <p:spPr>
          <a:xfrm xmlns:a="http://schemas.openxmlformats.org/drawingml/2006/main">
            <a:off x="552450" y="3238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29C5F6"/>
                </a:solidFill>
                <a:latin typeface="Arial"/>
                <a:ea typeface="Arial"/>
                <a:cs typeface="Arial"/>
              </a:defRPr>
            </a:pPr>
            <a:r>
              <a:rPr sz="1200" b="1">
                <a:solidFill>
                  <a:srgbClr val="29C5F6"/>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337D64B4-A9DD-4CDE-B24F-B145E75028AA}"/>
              </a:ext>
            </a:extLst>
          </p:cNvPr>
          <p:cNvSpPr>
            <a:spLocks xmlns:a="http://schemas.openxmlformats.org/drawingml/2006/main" noGrp="1"/>
          </p:cNvSpPr>
          <p:nvPr/>
        </p:nvSpPr>
        <p:spPr>
          <a:xfrm xmlns:a="http://schemas.openxmlformats.org/drawingml/2006/main">
            <a:off x="552450" y="628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8FAFC"/>
                </a:solidFill>
                <a:latin typeface="Arial"/>
                <a:ea typeface="Arial"/>
                <a:cs typeface="Arial"/>
              </a:defRPr>
            </a:pPr>
            <a:r>
              <a:rPr sz="2700" b="1">
                <a:solidFill>
                  <a:srgbClr val="F8FAFC"/>
                </a:solidFill>
                <a:latin typeface="Arial"/>
                <a:ea typeface="Arial"/>
                <a:cs typeface="Arial"/>
              </a:rPr>
              <a:t>Backend contribution summary</a:t>
            </a:r>
          </a:p>
        </p:txBody>
      </p:sp>
      <p:sp>
        <p:nvSpPr>
          <p:cNvPr id="3" name="">
            <a:extLst xmlns:a="http://schemas.openxmlformats.org/drawingml/2006/main">
              <a:ext uri="{FF2B5EF4-FFF2-40B4-BE49-F238E27FC236}">
                <a16:creationId xmlns:a16="http://schemas.microsoft.com/office/drawing/2014/main" id="{48977499-D5E2-4306-BA49-2515DB5CF2CD}"/>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What is ready now and what remains for final integration</a:t>
            </a:r>
          </a:p>
        </p:txBody>
      </p:sp>
      <p:sp>
        <p:nvSpPr>
          <p:cNvPr id="4" name="">
            <a:extLst xmlns:a="http://schemas.openxmlformats.org/drawingml/2006/main">
              <a:ext uri="{FF2B5EF4-FFF2-40B4-BE49-F238E27FC236}">
                <a16:creationId xmlns:a16="http://schemas.microsoft.com/office/drawing/2014/main" id="{2F5FD79B-984E-4C77-8AA8-A3A97C29C368}"/>
              </a:ext>
            </a:extLst>
          </p:cNvPr>
          <p:cNvSpPr>
            <a:spLocks xmlns:a="http://schemas.openxmlformats.org/drawingml/2006/main" noGrp="1"/>
          </p:cNvSpPr>
          <p:nvPr/>
        </p:nvSpPr>
        <p:spPr>
          <a:xfrm xmlns:a="http://schemas.openxmlformats.org/drawingml/2006/main">
            <a:off x="552450" y="1543050"/>
            <a:ext cx="11087100" cy="19050"/>
          </a:xfrm>
          <a:prstGeom xmlns:a="http://schemas.openxmlformats.org/drawingml/2006/main" prst="rect">
            <a:avLst/>
          </a:prstGeom>
          <a:solidFill xmlns:a="http://schemas.openxmlformats.org/drawingml/2006/main">
            <a:srgbClr val="29C5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C93EC0-0F7D-45C4-B2F5-F79BD03C2202}"/>
              </a:ext>
            </a:extLst>
          </p:cNvPr>
          <p:cNvSpPr>
            <a:spLocks xmlns:a="http://schemas.openxmlformats.org/drawingml/2006/main" noGrp="1"/>
          </p:cNvSpPr>
          <p:nvPr/>
        </p:nvSpPr>
        <p:spPr>
          <a:xfrm xmlns:a="http://schemas.openxmlformats.org/drawingml/2006/main">
            <a:off x="552450" y="19526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4DD4AC"/>
                </a:solidFill>
                <a:latin typeface="Arial"/>
                <a:ea typeface="Arial"/>
                <a:cs typeface="Arial"/>
              </a:defRPr>
            </a:pPr>
            <a:r>
              <a:rPr sz="2100" b="1">
                <a:solidFill>
                  <a:srgbClr val="4DD4AC"/>
                </a:solidFill>
                <a:latin typeface="Arial"/>
                <a:ea typeface="Arial"/>
                <a:cs typeface="Arial"/>
              </a:rPr>
              <a:t>Ready now</a:t>
            </a:r>
          </a:p>
        </p:txBody>
      </p:sp>
      <p:sp>
        <p:nvSpPr>
          <p:cNvPr id="6" name="">
            <a:extLst xmlns:a="http://schemas.openxmlformats.org/drawingml/2006/main">
              <a:ext uri="{FF2B5EF4-FFF2-40B4-BE49-F238E27FC236}">
                <a16:creationId xmlns:a16="http://schemas.microsoft.com/office/drawing/2014/main" id="{92F4A4F0-2D6A-4DD3-8C32-213E0D2EB400}"/>
              </a:ext>
            </a:extLst>
          </p:cNvPr>
          <p:cNvSpPr>
            <a:spLocks xmlns:a="http://schemas.openxmlformats.org/drawingml/2006/main" noGrp="1"/>
          </p:cNvSpPr>
          <p:nvPr/>
        </p:nvSpPr>
        <p:spPr>
          <a:xfrm xmlns:a="http://schemas.openxmlformats.org/drawingml/2006/main">
            <a:off x="552450" y="2457450"/>
            <a:ext cx="5334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Structured ASP.NET Core backend with DTO boundaries</a:t>
            </a:r>
          </a:p>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Project, task, dependency, progress, member, and team APIs</a:t>
            </a:r>
          </a:p>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Tenant-aware access rules and consistent validation</a:t>
            </a:r>
          </a:p>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63 passing automated tests</a:t>
            </a:r>
          </a:p>
        </p:txBody>
      </p:sp>
      <p:sp>
        <p:nvSpPr>
          <p:cNvPr id="7" name="">
            <a:extLst xmlns:a="http://schemas.openxmlformats.org/drawingml/2006/main">
              <a:ext uri="{FF2B5EF4-FFF2-40B4-BE49-F238E27FC236}">
                <a16:creationId xmlns:a16="http://schemas.microsoft.com/office/drawing/2014/main" id="{978953E3-7B24-43AD-A86C-313CE1176809}"/>
              </a:ext>
            </a:extLst>
          </p:cNvPr>
          <p:cNvSpPr>
            <a:spLocks xmlns:a="http://schemas.openxmlformats.org/drawingml/2006/main" noGrp="1"/>
          </p:cNvSpPr>
          <p:nvPr/>
        </p:nvSpPr>
        <p:spPr>
          <a:xfrm xmlns:a="http://schemas.openxmlformats.org/drawingml/2006/main">
            <a:off x="6096000" y="1885950"/>
            <a:ext cx="19050" cy="3714750"/>
          </a:xfrm>
          <a:prstGeom xmlns:a="http://schemas.openxmlformats.org/drawingml/2006/main" prst="rect">
            <a:avLst/>
          </a:prstGeom>
          <a:solidFill xmlns:a="http://schemas.openxmlformats.org/drawingml/2006/main">
            <a:srgbClr val="D7E2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3C9BCA-CAF1-4874-8814-89C44D7149A1}"/>
              </a:ext>
            </a:extLst>
          </p:cNvPr>
          <p:cNvSpPr>
            <a:spLocks xmlns:a="http://schemas.openxmlformats.org/drawingml/2006/main" noGrp="1"/>
          </p:cNvSpPr>
          <p:nvPr/>
        </p:nvSpPr>
        <p:spPr>
          <a:xfrm xmlns:a="http://schemas.openxmlformats.org/drawingml/2006/main">
            <a:off x="6553200" y="19526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B25B"/>
                </a:solidFill>
                <a:latin typeface="Arial"/>
                <a:ea typeface="Arial"/>
                <a:cs typeface="Arial"/>
              </a:defRPr>
            </a:pPr>
            <a:r>
              <a:rPr sz="2100" b="1">
                <a:solidFill>
                  <a:srgbClr val="FFB25B"/>
                </a:solidFill>
                <a:latin typeface="Arial"/>
                <a:ea typeface="Arial"/>
                <a:cs typeface="Arial"/>
              </a:rPr>
              <a:t>Next integration step</a:t>
            </a:r>
          </a:p>
        </p:txBody>
      </p:sp>
      <p:sp>
        <p:nvSpPr>
          <p:cNvPr id="9" name="">
            <a:extLst xmlns:a="http://schemas.openxmlformats.org/drawingml/2006/main">
              <a:ext uri="{FF2B5EF4-FFF2-40B4-BE49-F238E27FC236}">
                <a16:creationId xmlns:a16="http://schemas.microsoft.com/office/drawing/2014/main" id="{0482B349-D6E2-4CEA-BDAE-3852DE7A84F2}"/>
              </a:ext>
            </a:extLst>
          </p:cNvPr>
          <p:cNvSpPr>
            <a:spLocks xmlns:a="http://schemas.openxmlformats.org/drawingml/2006/main" noGrp="1"/>
          </p:cNvSpPr>
          <p:nvPr/>
        </p:nvSpPr>
        <p:spPr>
          <a:xfrm xmlns:a="http://schemas.openxmlformats.org/drawingml/2006/main">
            <a:off x="6553200" y="245745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Replace UnavailableMlService with the real ML adapter</a:t>
            </a:r>
          </a:p>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Confirm the final request and response contract</a:t>
            </a:r>
          </a:p>
          <a:p xmlns:a="http://schemas.openxmlformats.org/drawingml/2006/main">
            <a:pPr marL="228600" indent="-114300">
              <a:spcAft>
                <a:spcPts val="1000"/>
              </a:spcAft>
              <a:buChar char="•"/>
              <a:defRPr sz="1725">
                <a:solidFill>
                  <a:srgbClr val="F8FAFC"/>
                </a:solidFill>
                <a:latin typeface="Arial"/>
                <a:ea typeface="Arial"/>
                <a:cs typeface="Arial"/>
              </a:defRPr>
            </a:pPr>
            <a:r>
              <a:rPr sz="1725">
                <a:solidFill>
                  <a:srgbClr val="F8FAFC"/>
                </a:solidFill>
                <a:latin typeface="Arial"/>
                <a:ea typeface="Arial"/>
                <a:cs typeface="Arial"/>
              </a:rPr>
              <a:t>Connect the Flutter application to the verified endpoints</a:t>
            </a:r>
          </a:p>
        </p:txBody>
      </p:sp>
      <p:sp>
        <p:nvSpPr>
          <p:cNvPr id="10" name="">
            <a:extLst xmlns:a="http://schemas.openxmlformats.org/drawingml/2006/main">
              <a:ext uri="{FF2B5EF4-FFF2-40B4-BE49-F238E27FC236}">
                <a16:creationId xmlns:a16="http://schemas.microsoft.com/office/drawing/2014/main" id="{3AAF6305-9D8C-458A-9CF9-71131C4153E7}"/>
              </a:ext>
            </a:extLst>
          </p:cNvPr>
          <p:cNvSpPr>
            <a:spLocks xmlns:a="http://schemas.openxmlformats.org/drawingml/2006/main" noGrp="1"/>
          </p:cNvSpPr>
          <p:nvPr/>
        </p:nvSpPr>
        <p:spPr>
          <a:xfrm xmlns:a="http://schemas.openxmlformats.org/drawingml/2006/main">
            <a:off x="65532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9C5F6"/>
                </a:solidFill>
                <a:latin typeface="Arial"/>
                <a:ea typeface="Arial"/>
                <a:cs typeface="Arial"/>
              </a:defRPr>
            </a:pPr>
            <a:r>
              <a:rPr sz="1425" b="1">
                <a:solidFill>
                  <a:srgbClr val="29C5F6"/>
                </a:solidFill>
                <a:latin typeface="Arial"/>
                <a:ea typeface="Arial"/>
                <a:cs typeface="Arial"/>
              </a:rPr>
              <a:t>Recommended demo</a:t>
            </a:r>
          </a:p>
        </p:txBody>
      </p:sp>
      <p:sp>
        <p:nvSpPr>
          <p:cNvPr id="11" name="">
            <a:extLst xmlns:a="http://schemas.openxmlformats.org/drawingml/2006/main">
              <a:ext uri="{FF2B5EF4-FFF2-40B4-BE49-F238E27FC236}">
                <a16:creationId xmlns:a16="http://schemas.microsoft.com/office/drawing/2014/main" id="{E2E58F36-376E-45D1-8C96-29309691D46C}"/>
              </a:ext>
            </a:extLst>
          </p:cNvPr>
          <p:cNvSpPr>
            <a:spLocks xmlns:a="http://schemas.openxmlformats.org/drawingml/2006/main" noGrp="1"/>
          </p:cNvSpPr>
          <p:nvPr/>
        </p:nvSpPr>
        <p:spPr>
          <a:xfrm xmlns:a="http://schemas.openxmlformats.org/drawingml/2006/main">
            <a:off x="6553200" y="52197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AFC1D6"/>
                </a:solidFill>
                <a:latin typeface="Arial"/>
                <a:ea typeface="Arial"/>
                <a:cs typeface="Arial"/>
              </a:defRPr>
            </a:pPr>
            <a:r>
              <a:rPr sz="1350" b="0">
                <a:solidFill>
                  <a:srgbClr val="AFC1D6"/>
                </a:solidFill>
                <a:latin typeface="Arial"/>
                <a:ea typeface="Arial"/>
                <a:cs typeface="Arial"/>
              </a:rPr>
              <a:t>Create a dependency, show project progress, then call an AI endpoint and explain the intentional 503 response.</a:t>
            </a:r>
          </a:p>
        </p:txBody>
      </p:sp>
      <p:sp>
        <p:nvSpPr>
          <p:cNvPr id="12" name="">
            <a:extLst xmlns:a="http://schemas.openxmlformats.org/drawingml/2006/main">
              <a:ext uri="{FF2B5EF4-FFF2-40B4-BE49-F238E27FC236}">
                <a16:creationId xmlns:a16="http://schemas.microsoft.com/office/drawing/2014/main" id="{F881EEA7-094B-4460-A865-DE56360057BF}"/>
              </a:ext>
            </a:extLst>
          </p:cNvPr>
          <p:cNvSpPr>
            <a:spLocks xmlns:a="http://schemas.openxmlformats.org/drawingml/2006/main" noGrp="1"/>
          </p:cNvSpPr>
          <p:nvPr/>
        </p:nvSpPr>
        <p:spPr>
          <a:xfrm xmlns:a="http://schemas.openxmlformats.org/drawingml/2006/main">
            <a:off x="552450" y="64198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AFC1D6"/>
                </a:solidFill>
                <a:latin typeface="Arial"/>
                <a:ea typeface="Arial"/>
                <a:cs typeface="Arial"/>
              </a:defRPr>
            </a:pPr>
            <a:r>
              <a:rPr sz="900" b="0">
                <a:solidFill>
                  <a:srgbClr val="AFC1D6"/>
                </a:solidFill>
                <a:latin typeface="Arial"/>
                <a:ea typeface="Arial"/>
                <a:cs typeface="Arial"/>
              </a:rPr>
              <a:t>Scope: my verified backend work only</a:t>
            </a:r>
          </a:p>
        </p:txBody>
      </p:sp>
      <p:sp>
        <p:nvSpPr>
          <p:cNvPr id="13" name="">
            <a:extLst xmlns:a="http://schemas.openxmlformats.org/drawingml/2006/main">
              <a:ext uri="{FF2B5EF4-FFF2-40B4-BE49-F238E27FC236}">
                <a16:creationId xmlns:a16="http://schemas.microsoft.com/office/drawing/2014/main" id="{2527C3A5-E815-40E6-848F-9A5B641DED4B}"/>
              </a:ext>
            </a:extLst>
          </p:cNvPr>
          <p:cNvSpPr>
            <a:spLocks xmlns:a="http://schemas.openxmlformats.org/drawingml/2006/main" noGrp="1"/>
          </p:cNvSpPr>
          <p:nvPr/>
        </p:nvSpPr>
        <p:spPr>
          <a:xfrm xmlns:a="http://schemas.openxmlformats.org/drawingml/2006/main">
            <a:off x="7524750" y="6419850"/>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00" b="0">
                <a:solidFill>
                  <a:srgbClr val="AFC1D6"/>
                </a:solidFill>
                <a:latin typeface="Arial"/>
                <a:ea typeface="Arial"/>
                <a:cs typeface="Arial"/>
              </a:defRPr>
            </a:pPr>
            <a:r>
              <a:rPr sz="900" b="0">
                <a:solidFill>
                  <a:srgbClr val="AFC1D6"/>
                </a:solidFill>
                <a:latin typeface="Arial"/>
                <a:ea typeface="Arial"/>
                <a:cs typeface="Arial"/>
              </a:rPr>
              <a:t>ScaleFlow backend contribution</a:t>
            </a:r>
          </a:p>
        </p:txBody>
      </p:sp>
    </p:spTree>
    <p:extLst>
      <p:ext uri="{BB962C8B-B14F-4D97-AF65-F5344CB8AC3E}">
        <p14:creationId xmlns:p14="http://schemas.microsoft.com/office/powerpoint/2010/main" val="8685198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2026-09-19T08:39:52.6290000Z</dcterms:created>
  <dcterms:modified xsi:type="dcterms:W3CDTF">2026-09-19T08:39:52.6290000Z</dcterms:modified>
</coreProperties>
</file>